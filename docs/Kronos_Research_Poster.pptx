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198600" cy="20104100"/>
  <p:notesSz cx="141986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056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5371" y="6232271"/>
            <a:ext cx="12074208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0742" y="11258296"/>
            <a:ext cx="994346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247" y="4623943"/>
            <a:ext cx="6179153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15549" y="4623943"/>
            <a:ext cx="6179153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4202410" cy="1518285"/>
          </a:xfrm>
          <a:custGeom>
            <a:avLst/>
            <a:gdLst/>
            <a:ahLst/>
            <a:cxnLst/>
            <a:rect l="l" t="t" r="r" b="b"/>
            <a:pathLst>
              <a:path w="14202410" h="1518285">
                <a:moveTo>
                  <a:pt x="14202202" y="0"/>
                </a:moveTo>
                <a:lnTo>
                  <a:pt x="0" y="0"/>
                </a:lnTo>
                <a:lnTo>
                  <a:pt x="0" y="1517978"/>
                </a:lnTo>
                <a:lnTo>
                  <a:pt x="14202202" y="1517978"/>
                </a:lnTo>
                <a:lnTo>
                  <a:pt x="14202202" y="0"/>
                </a:lnTo>
                <a:close/>
              </a:path>
            </a:pathLst>
          </a:custGeom>
          <a:solidFill>
            <a:srgbClr val="C4132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14788" y="189324"/>
            <a:ext cx="7644536" cy="11161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247" y="804164"/>
            <a:ext cx="1278445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247" y="4623943"/>
            <a:ext cx="1278445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9683" y="18696814"/>
            <a:ext cx="4545584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247" y="18696814"/>
            <a:ext cx="326713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27564" y="18696814"/>
            <a:ext cx="326713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176" y="134037"/>
            <a:ext cx="4765675" cy="64325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310"/>
              </a:lnSpc>
              <a:spcBef>
                <a:spcPts val="380"/>
              </a:spcBef>
            </a:pP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FOUNDATIONAL</a:t>
            </a:r>
            <a:r>
              <a:rPr sz="21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LLMs</a:t>
            </a: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1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BITCOIN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PRICE</a:t>
            </a:r>
            <a:r>
              <a:rPr sz="21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DIRECTION</a:t>
            </a:r>
            <a:r>
              <a:rPr sz="21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FORECASTING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176" y="892013"/>
            <a:ext cx="260192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DDDD"/>
                </a:solidFill>
                <a:latin typeface="Arial MT"/>
                <a:cs typeface="Arial MT"/>
              </a:rPr>
              <a:t>Abdelrahman</a:t>
            </a:r>
            <a:r>
              <a:rPr sz="1000" spc="-30" dirty="0">
                <a:solidFill>
                  <a:srgbClr val="FFDDD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DDDD"/>
                </a:solidFill>
                <a:latin typeface="Arial MT"/>
                <a:cs typeface="Arial MT"/>
              </a:rPr>
              <a:t>Osman</a:t>
            </a:r>
            <a:r>
              <a:rPr sz="1000" spc="204" dirty="0">
                <a:solidFill>
                  <a:srgbClr val="FFDDD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DDDD"/>
                </a:solidFill>
                <a:latin typeface="Arial MT"/>
                <a:cs typeface="Arial MT"/>
              </a:rPr>
              <a:t>|</a:t>
            </a:r>
            <a:r>
              <a:rPr sz="1000" spc="215" dirty="0">
                <a:solidFill>
                  <a:srgbClr val="FFDDD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DDDD"/>
                </a:solidFill>
                <a:latin typeface="Arial MT"/>
                <a:cs typeface="Arial MT"/>
              </a:rPr>
              <a:t>700041232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176" y="1164238"/>
            <a:ext cx="189103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b="1" dirty="0">
                <a:solidFill>
                  <a:srgbClr val="FFEDAA"/>
                </a:solidFill>
                <a:latin typeface="Arial"/>
                <a:cs typeface="Arial"/>
              </a:rPr>
              <a:t>Supervised</a:t>
            </a:r>
            <a:r>
              <a:rPr sz="900" b="1" spc="25" dirty="0">
                <a:solidFill>
                  <a:srgbClr val="FFEDA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EDAA"/>
                </a:solidFill>
                <a:latin typeface="Arial"/>
                <a:cs typeface="Arial"/>
              </a:rPr>
              <a:t>by:</a:t>
            </a:r>
            <a:r>
              <a:rPr sz="900" b="1" spc="95" dirty="0">
                <a:solidFill>
                  <a:srgbClr val="FFEDA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EDAA"/>
                </a:solidFill>
                <a:latin typeface="Arial"/>
                <a:cs typeface="Arial"/>
              </a:rPr>
              <a:t>Dr.</a:t>
            </a:r>
            <a:r>
              <a:rPr sz="900" b="1" spc="55" dirty="0">
                <a:solidFill>
                  <a:srgbClr val="FFEDA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EDAA"/>
                </a:solidFill>
                <a:latin typeface="Arial"/>
                <a:cs typeface="Arial"/>
              </a:rPr>
              <a:t>Shengcai</a:t>
            </a:r>
            <a:r>
              <a:rPr sz="900" b="1" spc="40" dirty="0">
                <a:solidFill>
                  <a:srgbClr val="FFEDA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EDAA"/>
                </a:solidFill>
                <a:latin typeface="Arial"/>
                <a:cs typeface="Arial"/>
              </a:rPr>
              <a:t>Liao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38692" y="1695917"/>
            <a:ext cx="45085" cy="45085"/>
            <a:chOff x="5138692" y="1695917"/>
            <a:chExt cx="45085" cy="45085"/>
          </a:xfrm>
        </p:grpSpPr>
        <p:sp>
          <p:nvSpPr>
            <p:cNvPr id="7" name="object 7"/>
            <p:cNvSpPr/>
            <p:nvPr/>
          </p:nvSpPr>
          <p:spPr>
            <a:xfrm>
              <a:off x="5142909" y="170013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42909" y="170013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138692" y="1805211"/>
            <a:ext cx="45085" cy="45085"/>
            <a:chOff x="5138692" y="1805211"/>
            <a:chExt cx="45085" cy="45085"/>
          </a:xfrm>
        </p:grpSpPr>
        <p:sp>
          <p:nvSpPr>
            <p:cNvPr id="10" name="object 10"/>
            <p:cNvSpPr/>
            <p:nvPr/>
          </p:nvSpPr>
          <p:spPr>
            <a:xfrm>
              <a:off x="5142909" y="180942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42909" y="180942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138692" y="1914506"/>
            <a:ext cx="45085" cy="45085"/>
            <a:chOff x="5138692" y="1914506"/>
            <a:chExt cx="45085" cy="45085"/>
          </a:xfrm>
        </p:grpSpPr>
        <p:sp>
          <p:nvSpPr>
            <p:cNvPr id="13" name="object 13"/>
            <p:cNvSpPr/>
            <p:nvPr/>
          </p:nvSpPr>
          <p:spPr>
            <a:xfrm>
              <a:off x="5142909" y="191872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42909" y="191872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138692" y="2023800"/>
            <a:ext cx="45085" cy="45085"/>
            <a:chOff x="5138692" y="2023800"/>
            <a:chExt cx="45085" cy="45085"/>
          </a:xfrm>
        </p:grpSpPr>
        <p:sp>
          <p:nvSpPr>
            <p:cNvPr id="16" name="object 16"/>
            <p:cNvSpPr/>
            <p:nvPr/>
          </p:nvSpPr>
          <p:spPr>
            <a:xfrm>
              <a:off x="5142909" y="202801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42909" y="202801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138692" y="2133094"/>
            <a:ext cx="45085" cy="45085"/>
            <a:chOff x="5138692" y="2133094"/>
            <a:chExt cx="45085" cy="45085"/>
          </a:xfrm>
        </p:grpSpPr>
        <p:sp>
          <p:nvSpPr>
            <p:cNvPr id="19" name="object 19"/>
            <p:cNvSpPr/>
            <p:nvPr/>
          </p:nvSpPr>
          <p:spPr>
            <a:xfrm>
              <a:off x="5142909" y="213731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42909" y="213731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138692" y="2242389"/>
            <a:ext cx="45085" cy="45085"/>
            <a:chOff x="5138692" y="2242389"/>
            <a:chExt cx="45085" cy="45085"/>
          </a:xfrm>
        </p:grpSpPr>
        <p:sp>
          <p:nvSpPr>
            <p:cNvPr id="22" name="object 22"/>
            <p:cNvSpPr/>
            <p:nvPr/>
          </p:nvSpPr>
          <p:spPr>
            <a:xfrm>
              <a:off x="5142909" y="224660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42909" y="224660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138692" y="2351683"/>
            <a:ext cx="45085" cy="45085"/>
            <a:chOff x="5138692" y="2351683"/>
            <a:chExt cx="45085" cy="45085"/>
          </a:xfrm>
        </p:grpSpPr>
        <p:sp>
          <p:nvSpPr>
            <p:cNvPr id="25" name="object 25"/>
            <p:cNvSpPr/>
            <p:nvPr/>
          </p:nvSpPr>
          <p:spPr>
            <a:xfrm>
              <a:off x="5142909" y="235590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42909" y="235590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138692" y="2460978"/>
            <a:ext cx="45085" cy="45085"/>
            <a:chOff x="5138692" y="2460978"/>
            <a:chExt cx="45085" cy="45085"/>
          </a:xfrm>
        </p:grpSpPr>
        <p:sp>
          <p:nvSpPr>
            <p:cNvPr id="28" name="object 28"/>
            <p:cNvSpPr/>
            <p:nvPr/>
          </p:nvSpPr>
          <p:spPr>
            <a:xfrm>
              <a:off x="5142909" y="246519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42909" y="246519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138692" y="2570272"/>
            <a:ext cx="45085" cy="45085"/>
            <a:chOff x="5138692" y="2570272"/>
            <a:chExt cx="45085" cy="45085"/>
          </a:xfrm>
        </p:grpSpPr>
        <p:sp>
          <p:nvSpPr>
            <p:cNvPr id="31" name="object 31"/>
            <p:cNvSpPr/>
            <p:nvPr/>
          </p:nvSpPr>
          <p:spPr>
            <a:xfrm>
              <a:off x="5142909" y="257448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42909" y="257448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5138692" y="2679567"/>
            <a:ext cx="45085" cy="45085"/>
            <a:chOff x="5138692" y="2679567"/>
            <a:chExt cx="45085" cy="45085"/>
          </a:xfrm>
        </p:grpSpPr>
        <p:sp>
          <p:nvSpPr>
            <p:cNvPr id="34" name="object 34"/>
            <p:cNvSpPr/>
            <p:nvPr/>
          </p:nvSpPr>
          <p:spPr>
            <a:xfrm>
              <a:off x="5142909" y="268378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42909" y="268378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138692" y="2788861"/>
            <a:ext cx="45085" cy="45085"/>
            <a:chOff x="5138692" y="2788861"/>
            <a:chExt cx="45085" cy="45085"/>
          </a:xfrm>
        </p:grpSpPr>
        <p:sp>
          <p:nvSpPr>
            <p:cNvPr id="37" name="object 37"/>
            <p:cNvSpPr/>
            <p:nvPr/>
          </p:nvSpPr>
          <p:spPr>
            <a:xfrm>
              <a:off x="5142909" y="279307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42909" y="279307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5138692" y="2898156"/>
            <a:ext cx="45085" cy="45085"/>
            <a:chOff x="5138692" y="2898156"/>
            <a:chExt cx="45085" cy="45085"/>
          </a:xfrm>
        </p:grpSpPr>
        <p:sp>
          <p:nvSpPr>
            <p:cNvPr id="40" name="object 40"/>
            <p:cNvSpPr/>
            <p:nvPr/>
          </p:nvSpPr>
          <p:spPr>
            <a:xfrm>
              <a:off x="5142909" y="290237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42909" y="290237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138692" y="3007450"/>
            <a:ext cx="45085" cy="45085"/>
            <a:chOff x="5138692" y="3007450"/>
            <a:chExt cx="45085" cy="45085"/>
          </a:xfrm>
        </p:grpSpPr>
        <p:sp>
          <p:nvSpPr>
            <p:cNvPr id="43" name="object 43"/>
            <p:cNvSpPr/>
            <p:nvPr/>
          </p:nvSpPr>
          <p:spPr>
            <a:xfrm>
              <a:off x="5142909" y="301166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142909" y="301166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5138692" y="3116744"/>
            <a:ext cx="45085" cy="45085"/>
            <a:chOff x="5138692" y="3116744"/>
            <a:chExt cx="45085" cy="45085"/>
          </a:xfrm>
        </p:grpSpPr>
        <p:sp>
          <p:nvSpPr>
            <p:cNvPr id="46" name="object 46"/>
            <p:cNvSpPr/>
            <p:nvPr/>
          </p:nvSpPr>
          <p:spPr>
            <a:xfrm>
              <a:off x="5142909" y="312096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42909" y="312096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5138692" y="3226039"/>
            <a:ext cx="45085" cy="45085"/>
            <a:chOff x="5138692" y="3226039"/>
            <a:chExt cx="45085" cy="45085"/>
          </a:xfrm>
        </p:grpSpPr>
        <p:sp>
          <p:nvSpPr>
            <p:cNvPr id="49" name="object 49"/>
            <p:cNvSpPr/>
            <p:nvPr/>
          </p:nvSpPr>
          <p:spPr>
            <a:xfrm>
              <a:off x="5142909" y="323025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42909" y="323025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5138692" y="3335333"/>
            <a:ext cx="45085" cy="45085"/>
            <a:chOff x="5138692" y="3335333"/>
            <a:chExt cx="45085" cy="45085"/>
          </a:xfrm>
        </p:grpSpPr>
        <p:sp>
          <p:nvSpPr>
            <p:cNvPr id="52" name="object 52"/>
            <p:cNvSpPr/>
            <p:nvPr/>
          </p:nvSpPr>
          <p:spPr>
            <a:xfrm>
              <a:off x="5142909" y="333955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42909" y="333955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5138692" y="3444628"/>
            <a:ext cx="45085" cy="45085"/>
            <a:chOff x="5138692" y="3444628"/>
            <a:chExt cx="45085" cy="45085"/>
          </a:xfrm>
        </p:grpSpPr>
        <p:sp>
          <p:nvSpPr>
            <p:cNvPr id="55" name="object 55"/>
            <p:cNvSpPr/>
            <p:nvPr/>
          </p:nvSpPr>
          <p:spPr>
            <a:xfrm>
              <a:off x="5142909" y="344884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42909" y="344884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5138692" y="3553922"/>
            <a:ext cx="45085" cy="45085"/>
            <a:chOff x="5138692" y="3553922"/>
            <a:chExt cx="45085" cy="45085"/>
          </a:xfrm>
        </p:grpSpPr>
        <p:sp>
          <p:nvSpPr>
            <p:cNvPr id="58" name="object 58"/>
            <p:cNvSpPr/>
            <p:nvPr/>
          </p:nvSpPr>
          <p:spPr>
            <a:xfrm>
              <a:off x="5142909" y="355813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142909" y="355813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5138692" y="3663216"/>
            <a:ext cx="45085" cy="45085"/>
            <a:chOff x="5138692" y="3663216"/>
            <a:chExt cx="45085" cy="45085"/>
          </a:xfrm>
        </p:grpSpPr>
        <p:sp>
          <p:nvSpPr>
            <p:cNvPr id="61" name="object 61"/>
            <p:cNvSpPr/>
            <p:nvPr/>
          </p:nvSpPr>
          <p:spPr>
            <a:xfrm>
              <a:off x="5142909" y="366743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42909" y="366743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5138692" y="3772511"/>
            <a:ext cx="45085" cy="45085"/>
            <a:chOff x="5138692" y="3772511"/>
            <a:chExt cx="45085" cy="45085"/>
          </a:xfrm>
        </p:grpSpPr>
        <p:sp>
          <p:nvSpPr>
            <p:cNvPr id="64" name="object 64"/>
            <p:cNvSpPr/>
            <p:nvPr/>
          </p:nvSpPr>
          <p:spPr>
            <a:xfrm>
              <a:off x="5142909" y="377672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42909" y="377672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5138692" y="3881805"/>
            <a:ext cx="45085" cy="45085"/>
            <a:chOff x="5138692" y="3881805"/>
            <a:chExt cx="45085" cy="45085"/>
          </a:xfrm>
        </p:grpSpPr>
        <p:sp>
          <p:nvSpPr>
            <p:cNvPr id="67" name="object 67"/>
            <p:cNvSpPr/>
            <p:nvPr/>
          </p:nvSpPr>
          <p:spPr>
            <a:xfrm>
              <a:off x="5142909" y="388602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142909" y="388602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5138692" y="3991100"/>
            <a:ext cx="45085" cy="45085"/>
            <a:chOff x="5138692" y="3991100"/>
            <a:chExt cx="45085" cy="45085"/>
          </a:xfrm>
        </p:grpSpPr>
        <p:sp>
          <p:nvSpPr>
            <p:cNvPr id="70" name="object 70"/>
            <p:cNvSpPr/>
            <p:nvPr/>
          </p:nvSpPr>
          <p:spPr>
            <a:xfrm>
              <a:off x="5142909" y="399531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142909" y="399531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5138692" y="4100394"/>
            <a:ext cx="45085" cy="45085"/>
            <a:chOff x="5138692" y="4100394"/>
            <a:chExt cx="45085" cy="45085"/>
          </a:xfrm>
        </p:grpSpPr>
        <p:sp>
          <p:nvSpPr>
            <p:cNvPr id="73" name="object 73"/>
            <p:cNvSpPr/>
            <p:nvPr/>
          </p:nvSpPr>
          <p:spPr>
            <a:xfrm>
              <a:off x="5142909" y="410461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142909" y="410461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5138692" y="4209689"/>
            <a:ext cx="45085" cy="45085"/>
            <a:chOff x="5138692" y="4209689"/>
            <a:chExt cx="45085" cy="45085"/>
          </a:xfrm>
        </p:grpSpPr>
        <p:sp>
          <p:nvSpPr>
            <p:cNvPr id="76" name="object 76"/>
            <p:cNvSpPr/>
            <p:nvPr/>
          </p:nvSpPr>
          <p:spPr>
            <a:xfrm>
              <a:off x="5142909" y="421390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142909" y="421390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5138692" y="4318983"/>
            <a:ext cx="45085" cy="45085"/>
            <a:chOff x="5138692" y="4318983"/>
            <a:chExt cx="45085" cy="45085"/>
          </a:xfrm>
        </p:grpSpPr>
        <p:sp>
          <p:nvSpPr>
            <p:cNvPr id="79" name="object 79"/>
            <p:cNvSpPr/>
            <p:nvPr/>
          </p:nvSpPr>
          <p:spPr>
            <a:xfrm>
              <a:off x="5142909" y="432319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142909" y="432319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5138692" y="4428277"/>
            <a:ext cx="45085" cy="45085"/>
            <a:chOff x="5138692" y="4428277"/>
            <a:chExt cx="45085" cy="45085"/>
          </a:xfrm>
        </p:grpSpPr>
        <p:sp>
          <p:nvSpPr>
            <p:cNvPr id="82" name="object 82"/>
            <p:cNvSpPr/>
            <p:nvPr/>
          </p:nvSpPr>
          <p:spPr>
            <a:xfrm>
              <a:off x="5142909" y="443249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42909" y="443249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5138692" y="4537572"/>
            <a:ext cx="45085" cy="45085"/>
            <a:chOff x="5138692" y="4537572"/>
            <a:chExt cx="45085" cy="45085"/>
          </a:xfrm>
        </p:grpSpPr>
        <p:sp>
          <p:nvSpPr>
            <p:cNvPr id="85" name="object 85"/>
            <p:cNvSpPr/>
            <p:nvPr/>
          </p:nvSpPr>
          <p:spPr>
            <a:xfrm>
              <a:off x="5142909" y="454178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142909" y="454178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5138692" y="4646866"/>
            <a:ext cx="45085" cy="45085"/>
            <a:chOff x="5138692" y="4646866"/>
            <a:chExt cx="45085" cy="45085"/>
          </a:xfrm>
        </p:grpSpPr>
        <p:sp>
          <p:nvSpPr>
            <p:cNvPr id="88" name="object 88"/>
            <p:cNvSpPr/>
            <p:nvPr/>
          </p:nvSpPr>
          <p:spPr>
            <a:xfrm>
              <a:off x="5142909" y="465108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142909" y="465108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5138692" y="4756161"/>
            <a:ext cx="45085" cy="45085"/>
            <a:chOff x="5138692" y="4756161"/>
            <a:chExt cx="45085" cy="45085"/>
          </a:xfrm>
        </p:grpSpPr>
        <p:sp>
          <p:nvSpPr>
            <p:cNvPr id="91" name="object 91"/>
            <p:cNvSpPr/>
            <p:nvPr/>
          </p:nvSpPr>
          <p:spPr>
            <a:xfrm>
              <a:off x="5142909" y="476037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142909" y="476037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93"/>
          <p:cNvGrpSpPr/>
          <p:nvPr/>
        </p:nvGrpSpPr>
        <p:grpSpPr>
          <a:xfrm>
            <a:off x="5138692" y="4865455"/>
            <a:ext cx="45085" cy="45085"/>
            <a:chOff x="5138692" y="4865455"/>
            <a:chExt cx="45085" cy="45085"/>
          </a:xfrm>
        </p:grpSpPr>
        <p:sp>
          <p:nvSpPr>
            <p:cNvPr id="94" name="object 94"/>
            <p:cNvSpPr/>
            <p:nvPr/>
          </p:nvSpPr>
          <p:spPr>
            <a:xfrm>
              <a:off x="5142909" y="486967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142909" y="486967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6" name="object 96"/>
          <p:cNvGrpSpPr/>
          <p:nvPr/>
        </p:nvGrpSpPr>
        <p:grpSpPr>
          <a:xfrm>
            <a:off x="5138692" y="4974749"/>
            <a:ext cx="45085" cy="45085"/>
            <a:chOff x="5138692" y="4974749"/>
            <a:chExt cx="45085" cy="45085"/>
          </a:xfrm>
        </p:grpSpPr>
        <p:sp>
          <p:nvSpPr>
            <p:cNvPr id="97" name="object 97"/>
            <p:cNvSpPr/>
            <p:nvPr/>
          </p:nvSpPr>
          <p:spPr>
            <a:xfrm>
              <a:off x="5142909" y="497896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142909" y="497896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" name="object 99"/>
          <p:cNvGrpSpPr/>
          <p:nvPr/>
        </p:nvGrpSpPr>
        <p:grpSpPr>
          <a:xfrm>
            <a:off x="5138692" y="5084044"/>
            <a:ext cx="45085" cy="45085"/>
            <a:chOff x="5138692" y="5084044"/>
            <a:chExt cx="45085" cy="45085"/>
          </a:xfrm>
        </p:grpSpPr>
        <p:sp>
          <p:nvSpPr>
            <p:cNvPr id="100" name="object 100"/>
            <p:cNvSpPr/>
            <p:nvPr/>
          </p:nvSpPr>
          <p:spPr>
            <a:xfrm>
              <a:off x="5142909" y="508826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142909" y="508826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5138692" y="5193338"/>
            <a:ext cx="45085" cy="45085"/>
            <a:chOff x="5138692" y="5193338"/>
            <a:chExt cx="45085" cy="45085"/>
          </a:xfrm>
        </p:grpSpPr>
        <p:sp>
          <p:nvSpPr>
            <p:cNvPr id="103" name="object 103"/>
            <p:cNvSpPr/>
            <p:nvPr/>
          </p:nvSpPr>
          <p:spPr>
            <a:xfrm>
              <a:off x="5142909" y="519755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142909" y="519755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5138692" y="5302633"/>
            <a:ext cx="45085" cy="45085"/>
            <a:chOff x="5138692" y="5302633"/>
            <a:chExt cx="45085" cy="45085"/>
          </a:xfrm>
        </p:grpSpPr>
        <p:sp>
          <p:nvSpPr>
            <p:cNvPr id="106" name="object 106"/>
            <p:cNvSpPr/>
            <p:nvPr/>
          </p:nvSpPr>
          <p:spPr>
            <a:xfrm>
              <a:off x="5142909" y="530684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142909" y="530684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5138692" y="5411927"/>
            <a:ext cx="45085" cy="45085"/>
            <a:chOff x="5138692" y="5411927"/>
            <a:chExt cx="45085" cy="45085"/>
          </a:xfrm>
        </p:grpSpPr>
        <p:sp>
          <p:nvSpPr>
            <p:cNvPr id="109" name="object 109"/>
            <p:cNvSpPr/>
            <p:nvPr/>
          </p:nvSpPr>
          <p:spPr>
            <a:xfrm>
              <a:off x="5142909" y="541614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142909" y="541614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1" name="object 111"/>
          <p:cNvGrpSpPr/>
          <p:nvPr/>
        </p:nvGrpSpPr>
        <p:grpSpPr>
          <a:xfrm>
            <a:off x="5138692" y="5521221"/>
            <a:ext cx="45085" cy="45085"/>
            <a:chOff x="5138692" y="5521221"/>
            <a:chExt cx="45085" cy="45085"/>
          </a:xfrm>
        </p:grpSpPr>
        <p:sp>
          <p:nvSpPr>
            <p:cNvPr id="112" name="object 112"/>
            <p:cNvSpPr/>
            <p:nvPr/>
          </p:nvSpPr>
          <p:spPr>
            <a:xfrm>
              <a:off x="5142909" y="552543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142909" y="552543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" name="object 114"/>
          <p:cNvGrpSpPr/>
          <p:nvPr/>
        </p:nvGrpSpPr>
        <p:grpSpPr>
          <a:xfrm>
            <a:off x="5138692" y="5630516"/>
            <a:ext cx="45085" cy="45085"/>
            <a:chOff x="5138692" y="5630516"/>
            <a:chExt cx="45085" cy="45085"/>
          </a:xfrm>
        </p:grpSpPr>
        <p:sp>
          <p:nvSpPr>
            <p:cNvPr id="115" name="object 115"/>
            <p:cNvSpPr/>
            <p:nvPr/>
          </p:nvSpPr>
          <p:spPr>
            <a:xfrm>
              <a:off x="5142909" y="563473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142909" y="563473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" name="object 117"/>
          <p:cNvGrpSpPr/>
          <p:nvPr/>
        </p:nvGrpSpPr>
        <p:grpSpPr>
          <a:xfrm>
            <a:off x="5138692" y="5739810"/>
            <a:ext cx="45085" cy="45085"/>
            <a:chOff x="5138692" y="5739810"/>
            <a:chExt cx="45085" cy="45085"/>
          </a:xfrm>
        </p:grpSpPr>
        <p:sp>
          <p:nvSpPr>
            <p:cNvPr id="118" name="object 118"/>
            <p:cNvSpPr/>
            <p:nvPr/>
          </p:nvSpPr>
          <p:spPr>
            <a:xfrm>
              <a:off x="5142909" y="574402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142909" y="574402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0" name="object 120"/>
          <p:cNvGrpSpPr/>
          <p:nvPr/>
        </p:nvGrpSpPr>
        <p:grpSpPr>
          <a:xfrm>
            <a:off x="5138692" y="5849105"/>
            <a:ext cx="45085" cy="45085"/>
            <a:chOff x="5138692" y="5849105"/>
            <a:chExt cx="45085" cy="45085"/>
          </a:xfrm>
        </p:grpSpPr>
        <p:sp>
          <p:nvSpPr>
            <p:cNvPr id="121" name="object 121"/>
            <p:cNvSpPr/>
            <p:nvPr/>
          </p:nvSpPr>
          <p:spPr>
            <a:xfrm>
              <a:off x="5142909" y="585332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142909" y="585332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3" name="object 123"/>
          <p:cNvGrpSpPr/>
          <p:nvPr/>
        </p:nvGrpSpPr>
        <p:grpSpPr>
          <a:xfrm>
            <a:off x="5138692" y="5958399"/>
            <a:ext cx="45085" cy="45085"/>
            <a:chOff x="5138692" y="5958399"/>
            <a:chExt cx="45085" cy="45085"/>
          </a:xfrm>
        </p:grpSpPr>
        <p:sp>
          <p:nvSpPr>
            <p:cNvPr id="124" name="object 124"/>
            <p:cNvSpPr/>
            <p:nvPr/>
          </p:nvSpPr>
          <p:spPr>
            <a:xfrm>
              <a:off x="5142909" y="596261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142909" y="596261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" name="object 126"/>
          <p:cNvGrpSpPr/>
          <p:nvPr/>
        </p:nvGrpSpPr>
        <p:grpSpPr>
          <a:xfrm>
            <a:off x="5138692" y="6067693"/>
            <a:ext cx="45085" cy="45085"/>
            <a:chOff x="5138692" y="6067693"/>
            <a:chExt cx="45085" cy="45085"/>
          </a:xfrm>
        </p:grpSpPr>
        <p:sp>
          <p:nvSpPr>
            <p:cNvPr id="127" name="object 127"/>
            <p:cNvSpPr/>
            <p:nvPr/>
          </p:nvSpPr>
          <p:spPr>
            <a:xfrm>
              <a:off x="5142909" y="607191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142909" y="607191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9" name="object 129"/>
          <p:cNvGrpSpPr/>
          <p:nvPr/>
        </p:nvGrpSpPr>
        <p:grpSpPr>
          <a:xfrm>
            <a:off x="5138692" y="6176988"/>
            <a:ext cx="45085" cy="45085"/>
            <a:chOff x="5138692" y="6176988"/>
            <a:chExt cx="45085" cy="45085"/>
          </a:xfrm>
        </p:grpSpPr>
        <p:sp>
          <p:nvSpPr>
            <p:cNvPr id="130" name="object 130"/>
            <p:cNvSpPr/>
            <p:nvPr/>
          </p:nvSpPr>
          <p:spPr>
            <a:xfrm>
              <a:off x="5142909" y="618120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142909" y="618120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2" name="object 132"/>
          <p:cNvGrpSpPr/>
          <p:nvPr/>
        </p:nvGrpSpPr>
        <p:grpSpPr>
          <a:xfrm>
            <a:off x="5138692" y="6286282"/>
            <a:ext cx="45085" cy="45085"/>
            <a:chOff x="5138692" y="6286282"/>
            <a:chExt cx="45085" cy="45085"/>
          </a:xfrm>
        </p:grpSpPr>
        <p:sp>
          <p:nvSpPr>
            <p:cNvPr id="133" name="object 133"/>
            <p:cNvSpPr/>
            <p:nvPr/>
          </p:nvSpPr>
          <p:spPr>
            <a:xfrm>
              <a:off x="5142909" y="629049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142909" y="629049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5" name="object 135"/>
          <p:cNvGrpSpPr/>
          <p:nvPr/>
        </p:nvGrpSpPr>
        <p:grpSpPr>
          <a:xfrm>
            <a:off x="5138692" y="6395577"/>
            <a:ext cx="45085" cy="45085"/>
            <a:chOff x="5138692" y="6395577"/>
            <a:chExt cx="45085" cy="45085"/>
          </a:xfrm>
        </p:grpSpPr>
        <p:sp>
          <p:nvSpPr>
            <p:cNvPr id="136" name="object 136"/>
            <p:cNvSpPr/>
            <p:nvPr/>
          </p:nvSpPr>
          <p:spPr>
            <a:xfrm>
              <a:off x="5142909" y="639979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142909" y="639979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8" name="object 138"/>
          <p:cNvGrpSpPr/>
          <p:nvPr/>
        </p:nvGrpSpPr>
        <p:grpSpPr>
          <a:xfrm>
            <a:off x="5138692" y="6504871"/>
            <a:ext cx="45085" cy="45085"/>
            <a:chOff x="5138692" y="6504871"/>
            <a:chExt cx="45085" cy="45085"/>
          </a:xfrm>
        </p:grpSpPr>
        <p:sp>
          <p:nvSpPr>
            <p:cNvPr id="139" name="object 139"/>
            <p:cNvSpPr/>
            <p:nvPr/>
          </p:nvSpPr>
          <p:spPr>
            <a:xfrm>
              <a:off x="5142909" y="650908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142909" y="650908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/>
          <p:cNvGrpSpPr/>
          <p:nvPr/>
        </p:nvGrpSpPr>
        <p:grpSpPr>
          <a:xfrm>
            <a:off x="5138692" y="6614166"/>
            <a:ext cx="45085" cy="45085"/>
            <a:chOff x="5138692" y="6614166"/>
            <a:chExt cx="45085" cy="45085"/>
          </a:xfrm>
        </p:grpSpPr>
        <p:sp>
          <p:nvSpPr>
            <p:cNvPr id="142" name="object 142"/>
            <p:cNvSpPr/>
            <p:nvPr/>
          </p:nvSpPr>
          <p:spPr>
            <a:xfrm>
              <a:off x="5142909" y="661838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142909" y="661838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" name="object 144"/>
          <p:cNvGrpSpPr/>
          <p:nvPr/>
        </p:nvGrpSpPr>
        <p:grpSpPr>
          <a:xfrm>
            <a:off x="5138692" y="6723460"/>
            <a:ext cx="45085" cy="45085"/>
            <a:chOff x="5138692" y="6723460"/>
            <a:chExt cx="45085" cy="45085"/>
          </a:xfrm>
        </p:grpSpPr>
        <p:sp>
          <p:nvSpPr>
            <p:cNvPr id="145" name="object 145"/>
            <p:cNvSpPr/>
            <p:nvPr/>
          </p:nvSpPr>
          <p:spPr>
            <a:xfrm>
              <a:off x="5142909" y="672767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142909" y="672767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7" name="object 147"/>
          <p:cNvGrpSpPr/>
          <p:nvPr/>
        </p:nvGrpSpPr>
        <p:grpSpPr>
          <a:xfrm>
            <a:off x="5138692" y="6832755"/>
            <a:ext cx="45085" cy="45085"/>
            <a:chOff x="5138692" y="6832755"/>
            <a:chExt cx="45085" cy="45085"/>
          </a:xfrm>
        </p:grpSpPr>
        <p:sp>
          <p:nvSpPr>
            <p:cNvPr id="148" name="object 148"/>
            <p:cNvSpPr/>
            <p:nvPr/>
          </p:nvSpPr>
          <p:spPr>
            <a:xfrm>
              <a:off x="5142909" y="683697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5142909" y="683697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0" name="object 150"/>
          <p:cNvGrpSpPr/>
          <p:nvPr/>
        </p:nvGrpSpPr>
        <p:grpSpPr>
          <a:xfrm>
            <a:off x="5138692" y="6942049"/>
            <a:ext cx="45085" cy="45085"/>
            <a:chOff x="5138692" y="6942049"/>
            <a:chExt cx="45085" cy="45085"/>
          </a:xfrm>
        </p:grpSpPr>
        <p:sp>
          <p:nvSpPr>
            <p:cNvPr id="151" name="object 151"/>
            <p:cNvSpPr/>
            <p:nvPr/>
          </p:nvSpPr>
          <p:spPr>
            <a:xfrm>
              <a:off x="5142909" y="694626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142909" y="694626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3" name="object 153"/>
          <p:cNvGrpSpPr/>
          <p:nvPr/>
        </p:nvGrpSpPr>
        <p:grpSpPr>
          <a:xfrm>
            <a:off x="5138692" y="7051344"/>
            <a:ext cx="45085" cy="45085"/>
            <a:chOff x="5138692" y="7051344"/>
            <a:chExt cx="45085" cy="45085"/>
          </a:xfrm>
        </p:grpSpPr>
        <p:sp>
          <p:nvSpPr>
            <p:cNvPr id="154" name="object 154"/>
            <p:cNvSpPr/>
            <p:nvPr/>
          </p:nvSpPr>
          <p:spPr>
            <a:xfrm>
              <a:off x="5142909" y="705556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142909" y="705556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" name="object 156"/>
          <p:cNvGrpSpPr/>
          <p:nvPr/>
        </p:nvGrpSpPr>
        <p:grpSpPr>
          <a:xfrm>
            <a:off x="5138692" y="7160638"/>
            <a:ext cx="45085" cy="45085"/>
            <a:chOff x="5138692" y="7160638"/>
            <a:chExt cx="45085" cy="45085"/>
          </a:xfrm>
        </p:grpSpPr>
        <p:sp>
          <p:nvSpPr>
            <p:cNvPr id="157" name="object 157"/>
            <p:cNvSpPr/>
            <p:nvPr/>
          </p:nvSpPr>
          <p:spPr>
            <a:xfrm>
              <a:off x="5142909" y="716485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142909" y="716485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9" name="object 159"/>
          <p:cNvGrpSpPr/>
          <p:nvPr/>
        </p:nvGrpSpPr>
        <p:grpSpPr>
          <a:xfrm>
            <a:off x="5138692" y="7269932"/>
            <a:ext cx="45085" cy="45085"/>
            <a:chOff x="5138692" y="7269932"/>
            <a:chExt cx="45085" cy="45085"/>
          </a:xfrm>
        </p:grpSpPr>
        <p:sp>
          <p:nvSpPr>
            <p:cNvPr id="160" name="object 160"/>
            <p:cNvSpPr/>
            <p:nvPr/>
          </p:nvSpPr>
          <p:spPr>
            <a:xfrm>
              <a:off x="5142909" y="727414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5142909" y="727414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2" name="object 162"/>
          <p:cNvGrpSpPr/>
          <p:nvPr/>
        </p:nvGrpSpPr>
        <p:grpSpPr>
          <a:xfrm>
            <a:off x="5138692" y="7379227"/>
            <a:ext cx="45085" cy="45085"/>
            <a:chOff x="5138692" y="7379227"/>
            <a:chExt cx="45085" cy="45085"/>
          </a:xfrm>
        </p:grpSpPr>
        <p:sp>
          <p:nvSpPr>
            <p:cNvPr id="163" name="object 163"/>
            <p:cNvSpPr/>
            <p:nvPr/>
          </p:nvSpPr>
          <p:spPr>
            <a:xfrm>
              <a:off x="5142909" y="738344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142909" y="738344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5" name="object 165"/>
          <p:cNvGrpSpPr/>
          <p:nvPr/>
        </p:nvGrpSpPr>
        <p:grpSpPr>
          <a:xfrm>
            <a:off x="5138692" y="7488521"/>
            <a:ext cx="45085" cy="45085"/>
            <a:chOff x="5138692" y="7488521"/>
            <a:chExt cx="45085" cy="45085"/>
          </a:xfrm>
        </p:grpSpPr>
        <p:sp>
          <p:nvSpPr>
            <p:cNvPr id="166" name="object 166"/>
            <p:cNvSpPr/>
            <p:nvPr/>
          </p:nvSpPr>
          <p:spPr>
            <a:xfrm>
              <a:off x="5142909" y="749273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142909" y="749273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8" name="object 168"/>
          <p:cNvGrpSpPr/>
          <p:nvPr/>
        </p:nvGrpSpPr>
        <p:grpSpPr>
          <a:xfrm>
            <a:off x="5138692" y="7597816"/>
            <a:ext cx="45085" cy="45085"/>
            <a:chOff x="5138692" y="7597816"/>
            <a:chExt cx="45085" cy="45085"/>
          </a:xfrm>
        </p:grpSpPr>
        <p:sp>
          <p:nvSpPr>
            <p:cNvPr id="169" name="object 169"/>
            <p:cNvSpPr/>
            <p:nvPr/>
          </p:nvSpPr>
          <p:spPr>
            <a:xfrm>
              <a:off x="5142909" y="760203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142909" y="760203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1" name="object 171"/>
          <p:cNvGrpSpPr/>
          <p:nvPr/>
        </p:nvGrpSpPr>
        <p:grpSpPr>
          <a:xfrm>
            <a:off x="5138692" y="7707110"/>
            <a:ext cx="45085" cy="45085"/>
            <a:chOff x="5138692" y="7707110"/>
            <a:chExt cx="45085" cy="45085"/>
          </a:xfrm>
        </p:grpSpPr>
        <p:sp>
          <p:nvSpPr>
            <p:cNvPr id="172" name="object 172"/>
            <p:cNvSpPr/>
            <p:nvPr/>
          </p:nvSpPr>
          <p:spPr>
            <a:xfrm>
              <a:off x="5142909" y="771132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5142909" y="771132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4" name="object 174"/>
          <p:cNvGrpSpPr/>
          <p:nvPr/>
        </p:nvGrpSpPr>
        <p:grpSpPr>
          <a:xfrm>
            <a:off x="5138692" y="7816405"/>
            <a:ext cx="45085" cy="45085"/>
            <a:chOff x="5138692" y="7816405"/>
            <a:chExt cx="45085" cy="45085"/>
          </a:xfrm>
        </p:grpSpPr>
        <p:sp>
          <p:nvSpPr>
            <p:cNvPr id="175" name="object 175"/>
            <p:cNvSpPr/>
            <p:nvPr/>
          </p:nvSpPr>
          <p:spPr>
            <a:xfrm>
              <a:off x="5142909" y="782062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142909" y="782062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7" name="object 177"/>
          <p:cNvGrpSpPr/>
          <p:nvPr/>
        </p:nvGrpSpPr>
        <p:grpSpPr>
          <a:xfrm>
            <a:off x="5138692" y="7925699"/>
            <a:ext cx="45085" cy="45085"/>
            <a:chOff x="5138692" y="7925699"/>
            <a:chExt cx="45085" cy="45085"/>
          </a:xfrm>
        </p:grpSpPr>
        <p:sp>
          <p:nvSpPr>
            <p:cNvPr id="178" name="object 178"/>
            <p:cNvSpPr/>
            <p:nvPr/>
          </p:nvSpPr>
          <p:spPr>
            <a:xfrm>
              <a:off x="5142909" y="792991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5142909" y="792991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0" name="object 180"/>
          <p:cNvGrpSpPr/>
          <p:nvPr/>
        </p:nvGrpSpPr>
        <p:grpSpPr>
          <a:xfrm>
            <a:off x="5138692" y="8034994"/>
            <a:ext cx="45085" cy="45085"/>
            <a:chOff x="5138692" y="8034994"/>
            <a:chExt cx="45085" cy="45085"/>
          </a:xfrm>
        </p:grpSpPr>
        <p:sp>
          <p:nvSpPr>
            <p:cNvPr id="181" name="object 181"/>
            <p:cNvSpPr/>
            <p:nvPr/>
          </p:nvSpPr>
          <p:spPr>
            <a:xfrm>
              <a:off x="5142909" y="803921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5142909" y="803921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3" name="object 183"/>
          <p:cNvGrpSpPr/>
          <p:nvPr/>
        </p:nvGrpSpPr>
        <p:grpSpPr>
          <a:xfrm>
            <a:off x="5138692" y="8144288"/>
            <a:ext cx="45085" cy="45085"/>
            <a:chOff x="5138692" y="8144288"/>
            <a:chExt cx="45085" cy="45085"/>
          </a:xfrm>
        </p:grpSpPr>
        <p:sp>
          <p:nvSpPr>
            <p:cNvPr id="184" name="object 184"/>
            <p:cNvSpPr/>
            <p:nvPr/>
          </p:nvSpPr>
          <p:spPr>
            <a:xfrm>
              <a:off x="5142909" y="814850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142909" y="814850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6" name="object 186"/>
          <p:cNvGrpSpPr/>
          <p:nvPr/>
        </p:nvGrpSpPr>
        <p:grpSpPr>
          <a:xfrm>
            <a:off x="5138692" y="8253582"/>
            <a:ext cx="45085" cy="45085"/>
            <a:chOff x="5138692" y="8253582"/>
            <a:chExt cx="45085" cy="45085"/>
          </a:xfrm>
        </p:grpSpPr>
        <p:sp>
          <p:nvSpPr>
            <p:cNvPr id="187" name="object 187"/>
            <p:cNvSpPr/>
            <p:nvPr/>
          </p:nvSpPr>
          <p:spPr>
            <a:xfrm>
              <a:off x="5142909" y="825779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5142909" y="825779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9" name="object 189"/>
          <p:cNvGrpSpPr/>
          <p:nvPr/>
        </p:nvGrpSpPr>
        <p:grpSpPr>
          <a:xfrm>
            <a:off x="5138692" y="8362877"/>
            <a:ext cx="45085" cy="45085"/>
            <a:chOff x="5138692" y="8362877"/>
            <a:chExt cx="45085" cy="45085"/>
          </a:xfrm>
        </p:grpSpPr>
        <p:sp>
          <p:nvSpPr>
            <p:cNvPr id="190" name="object 190"/>
            <p:cNvSpPr/>
            <p:nvPr/>
          </p:nvSpPr>
          <p:spPr>
            <a:xfrm>
              <a:off x="5142909" y="836709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5142909" y="836709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2" name="object 192"/>
          <p:cNvGrpSpPr/>
          <p:nvPr/>
        </p:nvGrpSpPr>
        <p:grpSpPr>
          <a:xfrm>
            <a:off x="5138692" y="8472171"/>
            <a:ext cx="45085" cy="45085"/>
            <a:chOff x="5138692" y="8472171"/>
            <a:chExt cx="45085" cy="45085"/>
          </a:xfrm>
        </p:grpSpPr>
        <p:sp>
          <p:nvSpPr>
            <p:cNvPr id="193" name="object 193"/>
            <p:cNvSpPr/>
            <p:nvPr/>
          </p:nvSpPr>
          <p:spPr>
            <a:xfrm>
              <a:off x="5142909" y="847638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142909" y="847638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5" name="object 195"/>
          <p:cNvGrpSpPr/>
          <p:nvPr/>
        </p:nvGrpSpPr>
        <p:grpSpPr>
          <a:xfrm>
            <a:off x="5138692" y="8581466"/>
            <a:ext cx="45085" cy="45085"/>
            <a:chOff x="5138692" y="8581466"/>
            <a:chExt cx="45085" cy="45085"/>
          </a:xfrm>
        </p:grpSpPr>
        <p:sp>
          <p:nvSpPr>
            <p:cNvPr id="196" name="object 196"/>
            <p:cNvSpPr/>
            <p:nvPr/>
          </p:nvSpPr>
          <p:spPr>
            <a:xfrm>
              <a:off x="5142909" y="858568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142909" y="858568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8" name="object 198"/>
          <p:cNvGrpSpPr/>
          <p:nvPr/>
        </p:nvGrpSpPr>
        <p:grpSpPr>
          <a:xfrm>
            <a:off x="5138692" y="8690760"/>
            <a:ext cx="45085" cy="45085"/>
            <a:chOff x="5138692" y="8690760"/>
            <a:chExt cx="45085" cy="45085"/>
          </a:xfrm>
        </p:grpSpPr>
        <p:sp>
          <p:nvSpPr>
            <p:cNvPr id="199" name="object 199"/>
            <p:cNvSpPr/>
            <p:nvPr/>
          </p:nvSpPr>
          <p:spPr>
            <a:xfrm>
              <a:off x="5142909" y="869497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5142909" y="869497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1" name="object 201"/>
          <p:cNvGrpSpPr/>
          <p:nvPr/>
        </p:nvGrpSpPr>
        <p:grpSpPr>
          <a:xfrm>
            <a:off x="5138692" y="8800054"/>
            <a:ext cx="45085" cy="45085"/>
            <a:chOff x="5138692" y="8800054"/>
            <a:chExt cx="45085" cy="45085"/>
          </a:xfrm>
        </p:grpSpPr>
        <p:sp>
          <p:nvSpPr>
            <p:cNvPr id="202" name="object 202"/>
            <p:cNvSpPr/>
            <p:nvPr/>
          </p:nvSpPr>
          <p:spPr>
            <a:xfrm>
              <a:off x="5142909" y="88042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5142909" y="88042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4" name="object 204"/>
          <p:cNvGrpSpPr/>
          <p:nvPr/>
        </p:nvGrpSpPr>
        <p:grpSpPr>
          <a:xfrm>
            <a:off x="5138692" y="8909349"/>
            <a:ext cx="45085" cy="45085"/>
            <a:chOff x="5138692" y="8909349"/>
            <a:chExt cx="45085" cy="45085"/>
          </a:xfrm>
        </p:grpSpPr>
        <p:sp>
          <p:nvSpPr>
            <p:cNvPr id="205" name="object 205"/>
            <p:cNvSpPr/>
            <p:nvPr/>
          </p:nvSpPr>
          <p:spPr>
            <a:xfrm>
              <a:off x="5142909" y="891356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5142909" y="891356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7" name="object 207"/>
          <p:cNvGrpSpPr/>
          <p:nvPr/>
        </p:nvGrpSpPr>
        <p:grpSpPr>
          <a:xfrm>
            <a:off x="5138692" y="9018643"/>
            <a:ext cx="45085" cy="45085"/>
            <a:chOff x="5138692" y="9018643"/>
            <a:chExt cx="45085" cy="45085"/>
          </a:xfrm>
        </p:grpSpPr>
        <p:sp>
          <p:nvSpPr>
            <p:cNvPr id="208" name="object 208"/>
            <p:cNvSpPr/>
            <p:nvPr/>
          </p:nvSpPr>
          <p:spPr>
            <a:xfrm>
              <a:off x="5142909" y="902285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142909" y="902285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0" name="object 210"/>
          <p:cNvGrpSpPr/>
          <p:nvPr/>
        </p:nvGrpSpPr>
        <p:grpSpPr>
          <a:xfrm>
            <a:off x="5138692" y="9127938"/>
            <a:ext cx="45085" cy="45085"/>
            <a:chOff x="5138692" y="9127938"/>
            <a:chExt cx="45085" cy="45085"/>
          </a:xfrm>
        </p:grpSpPr>
        <p:sp>
          <p:nvSpPr>
            <p:cNvPr id="211" name="object 211"/>
            <p:cNvSpPr/>
            <p:nvPr/>
          </p:nvSpPr>
          <p:spPr>
            <a:xfrm>
              <a:off x="5142909" y="913215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5142909" y="913215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3" name="object 213"/>
          <p:cNvGrpSpPr/>
          <p:nvPr/>
        </p:nvGrpSpPr>
        <p:grpSpPr>
          <a:xfrm>
            <a:off x="5138692" y="9237232"/>
            <a:ext cx="45085" cy="45085"/>
            <a:chOff x="5138692" y="9237232"/>
            <a:chExt cx="45085" cy="45085"/>
          </a:xfrm>
        </p:grpSpPr>
        <p:sp>
          <p:nvSpPr>
            <p:cNvPr id="214" name="object 214"/>
            <p:cNvSpPr/>
            <p:nvPr/>
          </p:nvSpPr>
          <p:spPr>
            <a:xfrm>
              <a:off x="5142909" y="924144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5142909" y="924144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5138692" y="9346526"/>
            <a:ext cx="45085" cy="45085"/>
            <a:chOff x="5138692" y="9346526"/>
            <a:chExt cx="45085" cy="45085"/>
          </a:xfrm>
        </p:grpSpPr>
        <p:sp>
          <p:nvSpPr>
            <p:cNvPr id="217" name="object 217"/>
            <p:cNvSpPr/>
            <p:nvPr/>
          </p:nvSpPr>
          <p:spPr>
            <a:xfrm>
              <a:off x="5142909" y="935074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5142909" y="935074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9" name="object 219"/>
          <p:cNvGrpSpPr/>
          <p:nvPr/>
        </p:nvGrpSpPr>
        <p:grpSpPr>
          <a:xfrm>
            <a:off x="5138692" y="9455821"/>
            <a:ext cx="45085" cy="45085"/>
            <a:chOff x="5138692" y="9455821"/>
            <a:chExt cx="45085" cy="45085"/>
          </a:xfrm>
        </p:grpSpPr>
        <p:sp>
          <p:nvSpPr>
            <p:cNvPr id="220" name="object 220"/>
            <p:cNvSpPr/>
            <p:nvPr/>
          </p:nvSpPr>
          <p:spPr>
            <a:xfrm>
              <a:off x="5142909" y="946003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5142909" y="946003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2" name="object 222"/>
          <p:cNvGrpSpPr/>
          <p:nvPr/>
        </p:nvGrpSpPr>
        <p:grpSpPr>
          <a:xfrm>
            <a:off x="5138692" y="9565115"/>
            <a:ext cx="45085" cy="45085"/>
            <a:chOff x="5138692" y="9565115"/>
            <a:chExt cx="45085" cy="45085"/>
          </a:xfrm>
        </p:grpSpPr>
        <p:sp>
          <p:nvSpPr>
            <p:cNvPr id="223" name="object 223"/>
            <p:cNvSpPr/>
            <p:nvPr/>
          </p:nvSpPr>
          <p:spPr>
            <a:xfrm>
              <a:off x="5142909" y="956933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5142909" y="956933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5" name="object 225"/>
          <p:cNvGrpSpPr/>
          <p:nvPr/>
        </p:nvGrpSpPr>
        <p:grpSpPr>
          <a:xfrm>
            <a:off x="5138692" y="9674410"/>
            <a:ext cx="45085" cy="45085"/>
            <a:chOff x="5138692" y="9674410"/>
            <a:chExt cx="45085" cy="45085"/>
          </a:xfrm>
        </p:grpSpPr>
        <p:sp>
          <p:nvSpPr>
            <p:cNvPr id="226" name="object 226"/>
            <p:cNvSpPr/>
            <p:nvPr/>
          </p:nvSpPr>
          <p:spPr>
            <a:xfrm>
              <a:off x="5142909" y="967862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5142909" y="967862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8" name="object 228"/>
          <p:cNvGrpSpPr/>
          <p:nvPr/>
        </p:nvGrpSpPr>
        <p:grpSpPr>
          <a:xfrm>
            <a:off x="5138692" y="9783704"/>
            <a:ext cx="45085" cy="45085"/>
            <a:chOff x="5138692" y="9783704"/>
            <a:chExt cx="45085" cy="45085"/>
          </a:xfrm>
        </p:grpSpPr>
        <p:sp>
          <p:nvSpPr>
            <p:cNvPr id="229" name="object 229"/>
            <p:cNvSpPr/>
            <p:nvPr/>
          </p:nvSpPr>
          <p:spPr>
            <a:xfrm>
              <a:off x="5142909" y="978792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5142909" y="978792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1" name="object 231"/>
          <p:cNvGrpSpPr/>
          <p:nvPr/>
        </p:nvGrpSpPr>
        <p:grpSpPr>
          <a:xfrm>
            <a:off x="5138692" y="9892999"/>
            <a:ext cx="45085" cy="45085"/>
            <a:chOff x="5138692" y="9892999"/>
            <a:chExt cx="45085" cy="45085"/>
          </a:xfrm>
        </p:grpSpPr>
        <p:sp>
          <p:nvSpPr>
            <p:cNvPr id="232" name="object 232"/>
            <p:cNvSpPr/>
            <p:nvPr/>
          </p:nvSpPr>
          <p:spPr>
            <a:xfrm>
              <a:off x="5142909" y="989721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5142909" y="989721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4" name="object 234"/>
          <p:cNvGrpSpPr/>
          <p:nvPr/>
        </p:nvGrpSpPr>
        <p:grpSpPr>
          <a:xfrm>
            <a:off x="5138692" y="10002293"/>
            <a:ext cx="45085" cy="45085"/>
            <a:chOff x="5138692" y="10002293"/>
            <a:chExt cx="45085" cy="45085"/>
          </a:xfrm>
        </p:grpSpPr>
        <p:sp>
          <p:nvSpPr>
            <p:cNvPr id="235" name="object 235"/>
            <p:cNvSpPr/>
            <p:nvPr/>
          </p:nvSpPr>
          <p:spPr>
            <a:xfrm>
              <a:off x="5142909" y="1000650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5142909" y="1000650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7" name="object 237"/>
          <p:cNvGrpSpPr/>
          <p:nvPr/>
        </p:nvGrpSpPr>
        <p:grpSpPr>
          <a:xfrm>
            <a:off x="5138692" y="10111587"/>
            <a:ext cx="45085" cy="45085"/>
            <a:chOff x="5138692" y="10111587"/>
            <a:chExt cx="45085" cy="45085"/>
          </a:xfrm>
        </p:grpSpPr>
        <p:sp>
          <p:nvSpPr>
            <p:cNvPr id="238" name="object 238"/>
            <p:cNvSpPr/>
            <p:nvPr/>
          </p:nvSpPr>
          <p:spPr>
            <a:xfrm>
              <a:off x="5142909" y="1011580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5142909" y="1011580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0" name="object 240"/>
          <p:cNvGrpSpPr/>
          <p:nvPr/>
        </p:nvGrpSpPr>
        <p:grpSpPr>
          <a:xfrm>
            <a:off x="5138692" y="10220882"/>
            <a:ext cx="45085" cy="45085"/>
            <a:chOff x="5138692" y="10220882"/>
            <a:chExt cx="45085" cy="45085"/>
          </a:xfrm>
        </p:grpSpPr>
        <p:sp>
          <p:nvSpPr>
            <p:cNvPr id="241" name="object 241"/>
            <p:cNvSpPr/>
            <p:nvPr/>
          </p:nvSpPr>
          <p:spPr>
            <a:xfrm>
              <a:off x="5142909" y="1022509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5142909" y="1022509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3" name="object 243"/>
          <p:cNvGrpSpPr/>
          <p:nvPr/>
        </p:nvGrpSpPr>
        <p:grpSpPr>
          <a:xfrm>
            <a:off x="5138692" y="10330176"/>
            <a:ext cx="45085" cy="45085"/>
            <a:chOff x="5138692" y="10330176"/>
            <a:chExt cx="45085" cy="45085"/>
          </a:xfrm>
        </p:grpSpPr>
        <p:sp>
          <p:nvSpPr>
            <p:cNvPr id="244" name="object 244"/>
            <p:cNvSpPr/>
            <p:nvPr/>
          </p:nvSpPr>
          <p:spPr>
            <a:xfrm>
              <a:off x="5142909" y="1033439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5142909" y="1033439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6" name="object 246"/>
          <p:cNvGrpSpPr/>
          <p:nvPr/>
        </p:nvGrpSpPr>
        <p:grpSpPr>
          <a:xfrm>
            <a:off x="5138692" y="10439471"/>
            <a:ext cx="45085" cy="45085"/>
            <a:chOff x="5138692" y="10439471"/>
            <a:chExt cx="45085" cy="45085"/>
          </a:xfrm>
        </p:grpSpPr>
        <p:sp>
          <p:nvSpPr>
            <p:cNvPr id="247" name="object 247"/>
            <p:cNvSpPr/>
            <p:nvPr/>
          </p:nvSpPr>
          <p:spPr>
            <a:xfrm>
              <a:off x="5142909" y="1044368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5142909" y="1044368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9" name="object 249"/>
          <p:cNvGrpSpPr/>
          <p:nvPr/>
        </p:nvGrpSpPr>
        <p:grpSpPr>
          <a:xfrm>
            <a:off x="5138692" y="10548765"/>
            <a:ext cx="45085" cy="45085"/>
            <a:chOff x="5138692" y="10548765"/>
            <a:chExt cx="45085" cy="45085"/>
          </a:xfrm>
        </p:grpSpPr>
        <p:sp>
          <p:nvSpPr>
            <p:cNvPr id="250" name="object 250"/>
            <p:cNvSpPr/>
            <p:nvPr/>
          </p:nvSpPr>
          <p:spPr>
            <a:xfrm>
              <a:off x="5142909" y="1055298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142909" y="1055298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2" name="object 252"/>
          <p:cNvGrpSpPr/>
          <p:nvPr/>
        </p:nvGrpSpPr>
        <p:grpSpPr>
          <a:xfrm>
            <a:off x="5138692" y="10658059"/>
            <a:ext cx="45085" cy="45085"/>
            <a:chOff x="5138692" y="10658059"/>
            <a:chExt cx="45085" cy="45085"/>
          </a:xfrm>
        </p:grpSpPr>
        <p:sp>
          <p:nvSpPr>
            <p:cNvPr id="253" name="object 253"/>
            <p:cNvSpPr/>
            <p:nvPr/>
          </p:nvSpPr>
          <p:spPr>
            <a:xfrm>
              <a:off x="5142909" y="1066227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142909" y="1066227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5" name="object 255"/>
          <p:cNvGrpSpPr/>
          <p:nvPr/>
        </p:nvGrpSpPr>
        <p:grpSpPr>
          <a:xfrm>
            <a:off x="5138692" y="10767354"/>
            <a:ext cx="45085" cy="45085"/>
            <a:chOff x="5138692" y="10767354"/>
            <a:chExt cx="45085" cy="45085"/>
          </a:xfrm>
        </p:grpSpPr>
        <p:sp>
          <p:nvSpPr>
            <p:cNvPr id="256" name="object 256"/>
            <p:cNvSpPr/>
            <p:nvPr/>
          </p:nvSpPr>
          <p:spPr>
            <a:xfrm>
              <a:off x="5142909" y="1077157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142909" y="1077157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8" name="object 258"/>
          <p:cNvGrpSpPr/>
          <p:nvPr/>
        </p:nvGrpSpPr>
        <p:grpSpPr>
          <a:xfrm>
            <a:off x="5138692" y="10876648"/>
            <a:ext cx="45085" cy="45085"/>
            <a:chOff x="5138692" y="10876648"/>
            <a:chExt cx="45085" cy="45085"/>
          </a:xfrm>
        </p:grpSpPr>
        <p:sp>
          <p:nvSpPr>
            <p:cNvPr id="259" name="object 259"/>
            <p:cNvSpPr/>
            <p:nvPr/>
          </p:nvSpPr>
          <p:spPr>
            <a:xfrm>
              <a:off x="5142909" y="1088086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5142909" y="1088086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1" name="object 261"/>
          <p:cNvGrpSpPr/>
          <p:nvPr/>
        </p:nvGrpSpPr>
        <p:grpSpPr>
          <a:xfrm>
            <a:off x="5138692" y="10985943"/>
            <a:ext cx="45085" cy="45085"/>
            <a:chOff x="5138692" y="10985943"/>
            <a:chExt cx="45085" cy="45085"/>
          </a:xfrm>
        </p:grpSpPr>
        <p:sp>
          <p:nvSpPr>
            <p:cNvPr id="262" name="object 262"/>
            <p:cNvSpPr/>
            <p:nvPr/>
          </p:nvSpPr>
          <p:spPr>
            <a:xfrm>
              <a:off x="5142909" y="1099015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5142909" y="1099015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4" name="object 264"/>
          <p:cNvGrpSpPr/>
          <p:nvPr/>
        </p:nvGrpSpPr>
        <p:grpSpPr>
          <a:xfrm>
            <a:off x="5138692" y="11095237"/>
            <a:ext cx="45085" cy="45085"/>
            <a:chOff x="5138692" y="11095237"/>
            <a:chExt cx="45085" cy="45085"/>
          </a:xfrm>
        </p:grpSpPr>
        <p:sp>
          <p:nvSpPr>
            <p:cNvPr id="265" name="object 265"/>
            <p:cNvSpPr/>
            <p:nvPr/>
          </p:nvSpPr>
          <p:spPr>
            <a:xfrm>
              <a:off x="5142909" y="1109945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5142909" y="1109945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7" name="object 267"/>
          <p:cNvGrpSpPr/>
          <p:nvPr/>
        </p:nvGrpSpPr>
        <p:grpSpPr>
          <a:xfrm>
            <a:off x="5138692" y="11204531"/>
            <a:ext cx="45085" cy="45085"/>
            <a:chOff x="5138692" y="11204531"/>
            <a:chExt cx="45085" cy="45085"/>
          </a:xfrm>
        </p:grpSpPr>
        <p:sp>
          <p:nvSpPr>
            <p:cNvPr id="268" name="object 268"/>
            <p:cNvSpPr/>
            <p:nvPr/>
          </p:nvSpPr>
          <p:spPr>
            <a:xfrm>
              <a:off x="5142909" y="1120874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5142909" y="1120874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0" name="object 270"/>
          <p:cNvGrpSpPr/>
          <p:nvPr/>
        </p:nvGrpSpPr>
        <p:grpSpPr>
          <a:xfrm>
            <a:off x="5138692" y="11313826"/>
            <a:ext cx="45085" cy="45085"/>
            <a:chOff x="5138692" y="11313826"/>
            <a:chExt cx="45085" cy="45085"/>
          </a:xfrm>
        </p:grpSpPr>
        <p:sp>
          <p:nvSpPr>
            <p:cNvPr id="271" name="object 271"/>
            <p:cNvSpPr/>
            <p:nvPr/>
          </p:nvSpPr>
          <p:spPr>
            <a:xfrm>
              <a:off x="5142909" y="1131804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5142909" y="1131804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3" name="object 273"/>
          <p:cNvGrpSpPr/>
          <p:nvPr/>
        </p:nvGrpSpPr>
        <p:grpSpPr>
          <a:xfrm>
            <a:off x="5138692" y="11423120"/>
            <a:ext cx="45085" cy="45085"/>
            <a:chOff x="5138692" y="11423120"/>
            <a:chExt cx="45085" cy="45085"/>
          </a:xfrm>
        </p:grpSpPr>
        <p:sp>
          <p:nvSpPr>
            <p:cNvPr id="274" name="object 274"/>
            <p:cNvSpPr/>
            <p:nvPr/>
          </p:nvSpPr>
          <p:spPr>
            <a:xfrm>
              <a:off x="5142909" y="1142733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5142909" y="1142733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6" name="object 276"/>
          <p:cNvGrpSpPr/>
          <p:nvPr/>
        </p:nvGrpSpPr>
        <p:grpSpPr>
          <a:xfrm>
            <a:off x="5138692" y="11532415"/>
            <a:ext cx="45085" cy="45085"/>
            <a:chOff x="5138692" y="11532415"/>
            <a:chExt cx="45085" cy="45085"/>
          </a:xfrm>
        </p:grpSpPr>
        <p:sp>
          <p:nvSpPr>
            <p:cNvPr id="277" name="object 277"/>
            <p:cNvSpPr/>
            <p:nvPr/>
          </p:nvSpPr>
          <p:spPr>
            <a:xfrm>
              <a:off x="5142909" y="1153663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5142909" y="1153663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9" name="object 279"/>
          <p:cNvGrpSpPr/>
          <p:nvPr/>
        </p:nvGrpSpPr>
        <p:grpSpPr>
          <a:xfrm>
            <a:off x="5138692" y="11641709"/>
            <a:ext cx="45085" cy="45085"/>
            <a:chOff x="5138692" y="11641709"/>
            <a:chExt cx="45085" cy="45085"/>
          </a:xfrm>
        </p:grpSpPr>
        <p:sp>
          <p:nvSpPr>
            <p:cNvPr id="280" name="object 280"/>
            <p:cNvSpPr/>
            <p:nvPr/>
          </p:nvSpPr>
          <p:spPr>
            <a:xfrm>
              <a:off x="5142909" y="1164592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5142909" y="1164592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2" name="object 282"/>
          <p:cNvGrpSpPr/>
          <p:nvPr/>
        </p:nvGrpSpPr>
        <p:grpSpPr>
          <a:xfrm>
            <a:off x="5138692" y="11751003"/>
            <a:ext cx="45085" cy="45085"/>
            <a:chOff x="5138692" y="11751003"/>
            <a:chExt cx="45085" cy="45085"/>
          </a:xfrm>
        </p:grpSpPr>
        <p:sp>
          <p:nvSpPr>
            <p:cNvPr id="283" name="object 283"/>
            <p:cNvSpPr/>
            <p:nvPr/>
          </p:nvSpPr>
          <p:spPr>
            <a:xfrm>
              <a:off x="5142909" y="1175522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5142909" y="1175522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5" name="object 285"/>
          <p:cNvGrpSpPr/>
          <p:nvPr/>
        </p:nvGrpSpPr>
        <p:grpSpPr>
          <a:xfrm>
            <a:off x="5138692" y="11860298"/>
            <a:ext cx="45085" cy="45085"/>
            <a:chOff x="5138692" y="11860298"/>
            <a:chExt cx="45085" cy="45085"/>
          </a:xfrm>
        </p:grpSpPr>
        <p:sp>
          <p:nvSpPr>
            <p:cNvPr id="286" name="object 286"/>
            <p:cNvSpPr/>
            <p:nvPr/>
          </p:nvSpPr>
          <p:spPr>
            <a:xfrm>
              <a:off x="5142909" y="1186451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142909" y="1186451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8" name="object 288"/>
          <p:cNvGrpSpPr/>
          <p:nvPr/>
        </p:nvGrpSpPr>
        <p:grpSpPr>
          <a:xfrm>
            <a:off x="5138692" y="11969592"/>
            <a:ext cx="45085" cy="45085"/>
            <a:chOff x="5138692" y="11969592"/>
            <a:chExt cx="45085" cy="45085"/>
          </a:xfrm>
        </p:grpSpPr>
        <p:sp>
          <p:nvSpPr>
            <p:cNvPr id="289" name="object 289"/>
            <p:cNvSpPr/>
            <p:nvPr/>
          </p:nvSpPr>
          <p:spPr>
            <a:xfrm>
              <a:off x="5142909" y="1197380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5142909" y="1197380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1" name="object 291"/>
          <p:cNvGrpSpPr/>
          <p:nvPr/>
        </p:nvGrpSpPr>
        <p:grpSpPr>
          <a:xfrm>
            <a:off x="5138692" y="12078887"/>
            <a:ext cx="45085" cy="45085"/>
            <a:chOff x="5138692" y="12078887"/>
            <a:chExt cx="45085" cy="45085"/>
          </a:xfrm>
        </p:grpSpPr>
        <p:sp>
          <p:nvSpPr>
            <p:cNvPr id="292" name="object 292"/>
            <p:cNvSpPr/>
            <p:nvPr/>
          </p:nvSpPr>
          <p:spPr>
            <a:xfrm>
              <a:off x="5142909" y="1208310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5142909" y="1208310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4" name="object 294"/>
          <p:cNvGrpSpPr/>
          <p:nvPr/>
        </p:nvGrpSpPr>
        <p:grpSpPr>
          <a:xfrm>
            <a:off x="5138692" y="12188181"/>
            <a:ext cx="45085" cy="45085"/>
            <a:chOff x="5138692" y="12188181"/>
            <a:chExt cx="45085" cy="45085"/>
          </a:xfrm>
        </p:grpSpPr>
        <p:sp>
          <p:nvSpPr>
            <p:cNvPr id="295" name="object 295"/>
            <p:cNvSpPr/>
            <p:nvPr/>
          </p:nvSpPr>
          <p:spPr>
            <a:xfrm>
              <a:off x="5142909" y="1219239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5142909" y="1219239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7" name="object 297"/>
          <p:cNvGrpSpPr/>
          <p:nvPr/>
        </p:nvGrpSpPr>
        <p:grpSpPr>
          <a:xfrm>
            <a:off x="5138692" y="12297476"/>
            <a:ext cx="45085" cy="45085"/>
            <a:chOff x="5138692" y="12297476"/>
            <a:chExt cx="45085" cy="45085"/>
          </a:xfrm>
        </p:grpSpPr>
        <p:sp>
          <p:nvSpPr>
            <p:cNvPr id="298" name="object 298"/>
            <p:cNvSpPr/>
            <p:nvPr/>
          </p:nvSpPr>
          <p:spPr>
            <a:xfrm>
              <a:off x="5142909" y="1230169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5142909" y="1230169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0" name="object 300"/>
          <p:cNvGrpSpPr/>
          <p:nvPr/>
        </p:nvGrpSpPr>
        <p:grpSpPr>
          <a:xfrm>
            <a:off x="5138692" y="12406770"/>
            <a:ext cx="45085" cy="45085"/>
            <a:chOff x="5138692" y="12406770"/>
            <a:chExt cx="45085" cy="45085"/>
          </a:xfrm>
        </p:grpSpPr>
        <p:sp>
          <p:nvSpPr>
            <p:cNvPr id="301" name="object 301"/>
            <p:cNvSpPr/>
            <p:nvPr/>
          </p:nvSpPr>
          <p:spPr>
            <a:xfrm>
              <a:off x="5142909" y="1241098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5142909" y="1241098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3" name="object 303"/>
          <p:cNvGrpSpPr/>
          <p:nvPr/>
        </p:nvGrpSpPr>
        <p:grpSpPr>
          <a:xfrm>
            <a:off x="5138692" y="12516064"/>
            <a:ext cx="45085" cy="45085"/>
            <a:chOff x="5138692" y="12516064"/>
            <a:chExt cx="45085" cy="45085"/>
          </a:xfrm>
        </p:grpSpPr>
        <p:sp>
          <p:nvSpPr>
            <p:cNvPr id="304" name="object 304"/>
            <p:cNvSpPr/>
            <p:nvPr/>
          </p:nvSpPr>
          <p:spPr>
            <a:xfrm>
              <a:off x="5142909" y="1252028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5142909" y="1252028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6" name="object 306"/>
          <p:cNvGrpSpPr/>
          <p:nvPr/>
        </p:nvGrpSpPr>
        <p:grpSpPr>
          <a:xfrm>
            <a:off x="5138692" y="12625359"/>
            <a:ext cx="45085" cy="45085"/>
            <a:chOff x="5138692" y="12625359"/>
            <a:chExt cx="45085" cy="45085"/>
          </a:xfrm>
        </p:grpSpPr>
        <p:sp>
          <p:nvSpPr>
            <p:cNvPr id="307" name="object 307"/>
            <p:cNvSpPr/>
            <p:nvPr/>
          </p:nvSpPr>
          <p:spPr>
            <a:xfrm>
              <a:off x="5142909" y="1262957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5142909" y="1262957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9" name="object 309"/>
          <p:cNvGrpSpPr/>
          <p:nvPr/>
        </p:nvGrpSpPr>
        <p:grpSpPr>
          <a:xfrm>
            <a:off x="5138692" y="12734653"/>
            <a:ext cx="45085" cy="45085"/>
            <a:chOff x="5138692" y="12734653"/>
            <a:chExt cx="45085" cy="45085"/>
          </a:xfrm>
        </p:grpSpPr>
        <p:sp>
          <p:nvSpPr>
            <p:cNvPr id="310" name="object 310"/>
            <p:cNvSpPr/>
            <p:nvPr/>
          </p:nvSpPr>
          <p:spPr>
            <a:xfrm>
              <a:off x="5142909" y="127388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5142909" y="127388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2" name="object 312"/>
          <p:cNvGrpSpPr/>
          <p:nvPr/>
        </p:nvGrpSpPr>
        <p:grpSpPr>
          <a:xfrm>
            <a:off x="5138692" y="12843948"/>
            <a:ext cx="45085" cy="45085"/>
            <a:chOff x="5138692" y="12843948"/>
            <a:chExt cx="45085" cy="45085"/>
          </a:xfrm>
        </p:grpSpPr>
        <p:sp>
          <p:nvSpPr>
            <p:cNvPr id="313" name="object 313"/>
            <p:cNvSpPr/>
            <p:nvPr/>
          </p:nvSpPr>
          <p:spPr>
            <a:xfrm>
              <a:off x="5142909" y="1284816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5142909" y="1284816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5" name="object 315"/>
          <p:cNvGrpSpPr/>
          <p:nvPr/>
        </p:nvGrpSpPr>
        <p:grpSpPr>
          <a:xfrm>
            <a:off x="5138692" y="12953242"/>
            <a:ext cx="45085" cy="45085"/>
            <a:chOff x="5138692" y="12953242"/>
            <a:chExt cx="45085" cy="45085"/>
          </a:xfrm>
        </p:grpSpPr>
        <p:sp>
          <p:nvSpPr>
            <p:cNvPr id="316" name="object 316"/>
            <p:cNvSpPr/>
            <p:nvPr/>
          </p:nvSpPr>
          <p:spPr>
            <a:xfrm>
              <a:off x="5142909" y="1295745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5142909" y="1295745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8" name="object 318"/>
          <p:cNvGrpSpPr/>
          <p:nvPr/>
        </p:nvGrpSpPr>
        <p:grpSpPr>
          <a:xfrm>
            <a:off x="5138692" y="13062537"/>
            <a:ext cx="45085" cy="45085"/>
            <a:chOff x="5138692" y="13062537"/>
            <a:chExt cx="45085" cy="45085"/>
          </a:xfrm>
        </p:grpSpPr>
        <p:sp>
          <p:nvSpPr>
            <p:cNvPr id="319" name="object 319"/>
            <p:cNvSpPr/>
            <p:nvPr/>
          </p:nvSpPr>
          <p:spPr>
            <a:xfrm>
              <a:off x="5142909" y="1306675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5142909" y="1306675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1" name="object 321"/>
          <p:cNvGrpSpPr/>
          <p:nvPr/>
        </p:nvGrpSpPr>
        <p:grpSpPr>
          <a:xfrm>
            <a:off x="5138692" y="13171831"/>
            <a:ext cx="45085" cy="45085"/>
            <a:chOff x="5138692" y="13171831"/>
            <a:chExt cx="45085" cy="45085"/>
          </a:xfrm>
        </p:grpSpPr>
        <p:sp>
          <p:nvSpPr>
            <p:cNvPr id="322" name="object 322"/>
            <p:cNvSpPr/>
            <p:nvPr/>
          </p:nvSpPr>
          <p:spPr>
            <a:xfrm>
              <a:off x="5142909" y="1317604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5142909" y="1317604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4" name="object 324"/>
          <p:cNvGrpSpPr/>
          <p:nvPr/>
        </p:nvGrpSpPr>
        <p:grpSpPr>
          <a:xfrm>
            <a:off x="5138692" y="13281125"/>
            <a:ext cx="45085" cy="45085"/>
            <a:chOff x="5138692" y="13281125"/>
            <a:chExt cx="45085" cy="45085"/>
          </a:xfrm>
        </p:grpSpPr>
        <p:sp>
          <p:nvSpPr>
            <p:cNvPr id="325" name="object 325"/>
            <p:cNvSpPr/>
            <p:nvPr/>
          </p:nvSpPr>
          <p:spPr>
            <a:xfrm>
              <a:off x="5142909" y="1328534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5142909" y="1328534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7" name="object 327"/>
          <p:cNvGrpSpPr/>
          <p:nvPr/>
        </p:nvGrpSpPr>
        <p:grpSpPr>
          <a:xfrm>
            <a:off x="5138692" y="13390419"/>
            <a:ext cx="45085" cy="45085"/>
            <a:chOff x="5138692" y="13390419"/>
            <a:chExt cx="45085" cy="45085"/>
          </a:xfrm>
        </p:grpSpPr>
        <p:sp>
          <p:nvSpPr>
            <p:cNvPr id="328" name="object 328"/>
            <p:cNvSpPr/>
            <p:nvPr/>
          </p:nvSpPr>
          <p:spPr>
            <a:xfrm>
              <a:off x="5142909" y="1339463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5142909" y="1339463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0" name="object 330"/>
          <p:cNvGrpSpPr/>
          <p:nvPr/>
        </p:nvGrpSpPr>
        <p:grpSpPr>
          <a:xfrm>
            <a:off x="5138692" y="13499715"/>
            <a:ext cx="45085" cy="45085"/>
            <a:chOff x="5138692" y="13499715"/>
            <a:chExt cx="45085" cy="45085"/>
          </a:xfrm>
        </p:grpSpPr>
        <p:sp>
          <p:nvSpPr>
            <p:cNvPr id="331" name="object 331"/>
            <p:cNvSpPr/>
            <p:nvPr/>
          </p:nvSpPr>
          <p:spPr>
            <a:xfrm>
              <a:off x="5142909" y="1350393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5142909" y="1350393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3" name="object 333"/>
          <p:cNvGrpSpPr/>
          <p:nvPr/>
        </p:nvGrpSpPr>
        <p:grpSpPr>
          <a:xfrm>
            <a:off x="5138692" y="13609009"/>
            <a:ext cx="45085" cy="45085"/>
            <a:chOff x="5138692" y="13609009"/>
            <a:chExt cx="45085" cy="45085"/>
          </a:xfrm>
        </p:grpSpPr>
        <p:sp>
          <p:nvSpPr>
            <p:cNvPr id="334" name="object 334"/>
            <p:cNvSpPr/>
            <p:nvPr/>
          </p:nvSpPr>
          <p:spPr>
            <a:xfrm>
              <a:off x="5142909" y="1361322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5142909" y="1361322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6" name="object 336"/>
          <p:cNvGrpSpPr/>
          <p:nvPr/>
        </p:nvGrpSpPr>
        <p:grpSpPr>
          <a:xfrm>
            <a:off x="5138692" y="13718303"/>
            <a:ext cx="45085" cy="45085"/>
            <a:chOff x="5138692" y="13718303"/>
            <a:chExt cx="45085" cy="45085"/>
          </a:xfrm>
        </p:grpSpPr>
        <p:sp>
          <p:nvSpPr>
            <p:cNvPr id="337" name="object 337"/>
            <p:cNvSpPr/>
            <p:nvPr/>
          </p:nvSpPr>
          <p:spPr>
            <a:xfrm>
              <a:off x="5142909" y="1372252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5142909" y="1372252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9" name="object 339"/>
          <p:cNvGrpSpPr/>
          <p:nvPr/>
        </p:nvGrpSpPr>
        <p:grpSpPr>
          <a:xfrm>
            <a:off x="5138692" y="13827597"/>
            <a:ext cx="45085" cy="45085"/>
            <a:chOff x="5138692" y="13827597"/>
            <a:chExt cx="45085" cy="45085"/>
          </a:xfrm>
        </p:grpSpPr>
        <p:sp>
          <p:nvSpPr>
            <p:cNvPr id="340" name="object 340"/>
            <p:cNvSpPr/>
            <p:nvPr/>
          </p:nvSpPr>
          <p:spPr>
            <a:xfrm>
              <a:off x="5142909" y="1383181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5142909" y="1383181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2" name="object 342"/>
          <p:cNvGrpSpPr/>
          <p:nvPr/>
        </p:nvGrpSpPr>
        <p:grpSpPr>
          <a:xfrm>
            <a:off x="5138692" y="13936891"/>
            <a:ext cx="45085" cy="45085"/>
            <a:chOff x="5138692" y="13936891"/>
            <a:chExt cx="45085" cy="45085"/>
          </a:xfrm>
        </p:grpSpPr>
        <p:sp>
          <p:nvSpPr>
            <p:cNvPr id="343" name="object 343"/>
            <p:cNvSpPr/>
            <p:nvPr/>
          </p:nvSpPr>
          <p:spPr>
            <a:xfrm>
              <a:off x="5142909" y="1394110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5142909" y="1394110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5" name="object 345"/>
          <p:cNvGrpSpPr/>
          <p:nvPr/>
        </p:nvGrpSpPr>
        <p:grpSpPr>
          <a:xfrm>
            <a:off x="5138692" y="14046187"/>
            <a:ext cx="45085" cy="45085"/>
            <a:chOff x="5138692" y="14046187"/>
            <a:chExt cx="45085" cy="45085"/>
          </a:xfrm>
        </p:grpSpPr>
        <p:sp>
          <p:nvSpPr>
            <p:cNvPr id="346" name="object 346"/>
            <p:cNvSpPr/>
            <p:nvPr/>
          </p:nvSpPr>
          <p:spPr>
            <a:xfrm>
              <a:off x="5142909" y="1405040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5142909" y="1405040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8" name="object 348"/>
          <p:cNvGrpSpPr/>
          <p:nvPr/>
        </p:nvGrpSpPr>
        <p:grpSpPr>
          <a:xfrm>
            <a:off x="5138692" y="14155481"/>
            <a:ext cx="45085" cy="45085"/>
            <a:chOff x="5138692" y="14155481"/>
            <a:chExt cx="45085" cy="45085"/>
          </a:xfrm>
        </p:grpSpPr>
        <p:sp>
          <p:nvSpPr>
            <p:cNvPr id="349" name="object 349"/>
            <p:cNvSpPr/>
            <p:nvPr/>
          </p:nvSpPr>
          <p:spPr>
            <a:xfrm>
              <a:off x="5142909" y="1415969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5142909" y="1415969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1" name="object 351"/>
          <p:cNvGrpSpPr/>
          <p:nvPr/>
        </p:nvGrpSpPr>
        <p:grpSpPr>
          <a:xfrm>
            <a:off x="5138692" y="14264775"/>
            <a:ext cx="45085" cy="45085"/>
            <a:chOff x="5138692" y="14264775"/>
            <a:chExt cx="45085" cy="45085"/>
          </a:xfrm>
        </p:grpSpPr>
        <p:sp>
          <p:nvSpPr>
            <p:cNvPr id="352" name="object 352"/>
            <p:cNvSpPr/>
            <p:nvPr/>
          </p:nvSpPr>
          <p:spPr>
            <a:xfrm>
              <a:off x="5142909" y="1426899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5142909" y="1426899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4" name="object 354"/>
          <p:cNvGrpSpPr/>
          <p:nvPr/>
        </p:nvGrpSpPr>
        <p:grpSpPr>
          <a:xfrm>
            <a:off x="5138692" y="14374069"/>
            <a:ext cx="45085" cy="45085"/>
            <a:chOff x="5138692" y="14374069"/>
            <a:chExt cx="45085" cy="45085"/>
          </a:xfrm>
        </p:grpSpPr>
        <p:sp>
          <p:nvSpPr>
            <p:cNvPr id="355" name="object 355"/>
            <p:cNvSpPr/>
            <p:nvPr/>
          </p:nvSpPr>
          <p:spPr>
            <a:xfrm>
              <a:off x="5142909" y="1437828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5142909" y="1437828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7" name="object 357"/>
          <p:cNvGrpSpPr/>
          <p:nvPr/>
        </p:nvGrpSpPr>
        <p:grpSpPr>
          <a:xfrm>
            <a:off x="5138692" y="14483364"/>
            <a:ext cx="45085" cy="45085"/>
            <a:chOff x="5138692" y="14483364"/>
            <a:chExt cx="45085" cy="45085"/>
          </a:xfrm>
        </p:grpSpPr>
        <p:sp>
          <p:nvSpPr>
            <p:cNvPr id="358" name="object 358"/>
            <p:cNvSpPr/>
            <p:nvPr/>
          </p:nvSpPr>
          <p:spPr>
            <a:xfrm>
              <a:off x="5142909" y="1448758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5142909" y="1448758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0" name="object 360"/>
          <p:cNvGrpSpPr/>
          <p:nvPr/>
        </p:nvGrpSpPr>
        <p:grpSpPr>
          <a:xfrm>
            <a:off x="5138692" y="14592659"/>
            <a:ext cx="45085" cy="45085"/>
            <a:chOff x="5138692" y="14592659"/>
            <a:chExt cx="45085" cy="45085"/>
          </a:xfrm>
        </p:grpSpPr>
        <p:sp>
          <p:nvSpPr>
            <p:cNvPr id="361" name="object 361"/>
            <p:cNvSpPr/>
            <p:nvPr/>
          </p:nvSpPr>
          <p:spPr>
            <a:xfrm>
              <a:off x="5142909" y="1459687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5142909" y="1459687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3" name="object 363"/>
          <p:cNvGrpSpPr/>
          <p:nvPr/>
        </p:nvGrpSpPr>
        <p:grpSpPr>
          <a:xfrm>
            <a:off x="5138692" y="14701953"/>
            <a:ext cx="45085" cy="45085"/>
            <a:chOff x="5138692" y="14701953"/>
            <a:chExt cx="45085" cy="45085"/>
          </a:xfrm>
        </p:grpSpPr>
        <p:sp>
          <p:nvSpPr>
            <p:cNvPr id="364" name="object 364"/>
            <p:cNvSpPr/>
            <p:nvPr/>
          </p:nvSpPr>
          <p:spPr>
            <a:xfrm>
              <a:off x="5142909" y="147061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5142909" y="147061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6" name="object 366"/>
          <p:cNvGrpSpPr/>
          <p:nvPr/>
        </p:nvGrpSpPr>
        <p:grpSpPr>
          <a:xfrm>
            <a:off x="5138692" y="14811247"/>
            <a:ext cx="45085" cy="45085"/>
            <a:chOff x="5138692" y="14811247"/>
            <a:chExt cx="45085" cy="45085"/>
          </a:xfrm>
        </p:grpSpPr>
        <p:sp>
          <p:nvSpPr>
            <p:cNvPr id="367" name="object 367"/>
            <p:cNvSpPr/>
            <p:nvPr/>
          </p:nvSpPr>
          <p:spPr>
            <a:xfrm>
              <a:off x="5142909" y="1481546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5142909" y="1481546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9" name="object 369"/>
          <p:cNvGrpSpPr/>
          <p:nvPr/>
        </p:nvGrpSpPr>
        <p:grpSpPr>
          <a:xfrm>
            <a:off x="5138692" y="14920541"/>
            <a:ext cx="45085" cy="45085"/>
            <a:chOff x="5138692" y="14920541"/>
            <a:chExt cx="45085" cy="45085"/>
          </a:xfrm>
        </p:grpSpPr>
        <p:sp>
          <p:nvSpPr>
            <p:cNvPr id="370" name="object 370"/>
            <p:cNvSpPr/>
            <p:nvPr/>
          </p:nvSpPr>
          <p:spPr>
            <a:xfrm>
              <a:off x="5142909" y="1492475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5142909" y="1492475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2" name="object 372"/>
          <p:cNvGrpSpPr/>
          <p:nvPr/>
        </p:nvGrpSpPr>
        <p:grpSpPr>
          <a:xfrm>
            <a:off x="5138692" y="15029836"/>
            <a:ext cx="45085" cy="45085"/>
            <a:chOff x="5138692" y="15029836"/>
            <a:chExt cx="45085" cy="45085"/>
          </a:xfrm>
        </p:grpSpPr>
        <p:sp>
          <p:nvSpPr>
            <p:cNvPr id="373" name="object 373"/>
            <p:cNvSpPr/>
            <p:nvPr/>
          </p:nvSpPr>
          <p:spPr>
            <a:xfrm>
              <a:off x="5142909" y="1503405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5142909" y="1503405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5" name="object 375"/>
          <p:cNvGrpSpPr/>
          <p:nvPr/>
        </p:nvGrpSpPr>
        <p:grpSpPr>
          <a:xfrm>
            <a:off x="5138692" y="15139131"/>
            <a:ext cx="45085" cy="45085"/>
            <a:chOff x="5138692" y="15139131"/>
            <a:chExt cx="45085" cy="45085"/>
          </a:xfrm>
        </p:grpSpPr>
        <p:sp>
          <p:nvSpPr>
            <p:cNvPr id="376" name="object 376"/>
            <p:cNvSpPr/>
            <p:nvPr/>
          </p:nvSpPr>
          <p:spPr>
            <a:xfrm>
              <a:off x="5142909" y="1514334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5142909" y="1514334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8" name="object 378"/>
          <p:cNvGrpSpPr/>
          <p:nvPr/>
        </p:nvGrpSpPr>
        <p:grpSpPr>
          <a:xfrm>
            <a:off x="5138692" y="15248425"/>
            <a:ext cx="45085" cy="45085"/>
            <a:chOff x="5138692" y="15248425"/>
            <a:chExt cx="45085" cy="45085"/>
          </a:xfrm>
        </p:grpSpPr>
        <p:sp>
          <p:nvSpPr>
            <p:cNvPr id="379" name="object 379"/>
            <p:cNvSpPr/>
            <p:nvPr/>
          </p:nvSpPr>
          <p:spPr>
            <a:xfrm>
              <a:off x="5142909" y="1525264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5142909" y="1525264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1" name="object 381"/>
          <p:cNvGrpSpPr/>
          <p:nvPr/>
        </p:nvGrpSpPr>
        <p:grpSpPr>
          <a:xfrm>
            <a:off x="5138692" y="15357719"/>
            <a:ext cx="45085" cy="45085"/>
            <a:chOff x="5138692" y="15357719"/>
            <a:chExt cx="45085" cy="45085"/>
          </a:xfrm>
        </p:grpSpPr>
        <p:sp>
          <p:nvSpPr>
            <p:cNvPr id="382" name="object 382"/>
            <p:cNvSpPr/>
            <p:nvPr/>
          </p:nvSpPr>
          <p:spPr>
            <a:xfrm>
              <a:off x="5142909" y="1536193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5142909" y="1536193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4" name="object 384"/>
          <p:cNvGrpSpPr/>
          <p:nvPr/>
        </p:nvGrpSpPr>
        <p:grpSpPr>
          <a:xfrm>
            <a:off x="5138692" y="15467014"/>
            <a:ext cx="45085" cy="45085"/>
            <a:chOff x="5138692" y="15467014"/>
            <a:chExt cx="45085" cy="45085"/>
          </a:xfrm>
        </p:grpSpPr>
        <p:sp>
          <p:nvSpPr>
            <p:cNvPr id="385" name="object 385"/>
            <p:cNvSpPr/>
            <p:nvPr/>
          </p:nvSpPr>
          <p:spPr>
            <a:xfrm>
              <a:off x="5142909" y="1547123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5142909" y="1547123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7" name="object 387"/>
          <p:cNvGrpSpPr/>
          <p:nvPr/>
        </p:nvGrpSpPr>
        <p:grpSpPr>
          <a:xfrm>
            <a:off x="5138692" y="15576308"/>
            <a:ext cx="45085" cy="45085"/>
            <a:chOff x="5138692" y="15576308"/>
            <a:chExt cx="45085" cy="45085"/>
          </a:xfrm>
        </p:grpSpPr>
        <p:sp>
          <p:nvSpPr>
            <p:cNvPr id="388" name="object 388"/>
            <p:cNvSpPr/>
            <p:nvPr/>
          </p:nvSpPr>
          <p:spPr>
            <a:xfrm>
              <a:off x="5142909" y="1558052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5142909" y="1558052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0" name="object 390"/>
          <p:cNvGrpSpPr/>
          <p:nvPr/>
        </p:nvGrpSpPr>
        <p:grpSpPr>
          <a:xfrm>
            <a:off x="5138692" y="15685603"/>
            <a:ext cx="45085" cy="45085"/>
            <a:chOff x="5138692" y="15685603"/>
            <a:chExt cx="45085" cy="45085"/>
          </a:xfrm>
        </p:grpSpPr>
        <p:sp>
          <p:nvSpPr>
            <p:cNvPr id="391" name="object 391"/>
            <p:cNvSpPr/>
            <p:nvPr/>
          </p:nvSpPr>
          <p:spPr>
            <a:xfrm>
              <a:off x="5142909" y="1568982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5142909" y="1568982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3" name="object 393"/>
          <p:cNvGrpSpPr/>
          <p:nvPr/>
        </p:nvGrpSpPr>
        <p:grpSpPr>
          <a:xfrm>
            <a:off x="5138692" y="15794897"/>
            <a:ext cx="45085" cy="45085"/>
            <a:chOff x="5138692" y="15794897"/>
            <a:chExt cx="45085" cy="45085"/>
          </a:xfrm>
        </p:grpSpPr>
        <p:sp>
          <p:nvSpPr>
            <p:cNvPr id="394" name="object 394"/>
            <p:cNvSpPr/>
            <p:nvPr/>
          </p:nvSpPr>
          <p:spPr>
            <a:xfrm>
              <a:off x="5142909" y="1579911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5142909" y="1579911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6" name="object 396"/>
          <p:cNvGrpSpPr/>
          <p:nvPr/>
        </p:nvGrpSpPr>
        <p:grpSpPr>
          <a:xfrm>
            <a:off x="5138692" y="15904192"/>
            <a:ext cx="45085" cy="45085"/>
            <a:chOff x="5138692" y="15904192"/>
            <a:chExt cx="45085" cy="45085"/>
          </a:xfrm>
        </p:grpSpPr>
        <p:sp>
          <p:nvSpPr>
            <p:cNvPr id="397" name="object 397"/>
            <p:cNvSpPr/>
            <p:nvPr/>
          </p:nvSpPr>
          <p:spPr>
            <a:xfrm>
              <a:off x="5142909" y="1590840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5142909" y="1590840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9" name="object 399"/>
          <p:cNvGrpSpPr/>
          <p:nvPr/>
        </p:nvGrpSpPr>
        <p:grpSpPr>
          <a:xfrm>
            <a:off x="5138692" y="16013486"/>
            <a:ext cx="45085" cy="45085"/>
            <a:chOff x="5138692" y="16013486"/>
            <a:chExt cx="45085" cy="45085"/>
          </a:xfrm>
        </p:grpSpPr>
        <p:sp>
          <p:nvSpPr>
            <p:cNvPr id="400" name="object 400"/>
            <p:cNvSpPr/>
            <p:nvPr/>
          </p:nvSpPr>
          <p:spPr>
            <a:xfrm>
              <a:off x="5142909" y="1601770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5142909" y="1601770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2" name="object 402"/>
          <p:cNvGrpSpPr/>
          <p:nvPr/>
        </p:nvGrpSpPr>
        <p:grpSpPr>
          <a:xfrm>
            <a:off x="5138692" y="16122780"/>
            <a:ext cx="45085" cy="45085"/>
            <a:chOff x="5138692" y="16122780"/>
            <a:chExt cx="45085" cy="45085"/>
          </a:xfrm>
        </p:grpSpPr>
        <p:sp>
          <p:nvSpPr>
            <p:cNvPr id="403" name="object 403"/>
            <p:cNvSpPr/>
            <p:nvPr/>
          </p:nvSpPr>
          <p:spPr>
            <a:xfrm>
              <a:off x="5142909" y="1612699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5142909" y="1612699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5" name="object 405"/>
          <p:cNvGrpSpPr/>
          <p:nvPr/>
        </p:nvGrpSpPr>
        <p:grpSpPr>
          <a:xfrm>
            <a:off x="5138692" y="16232075"/>
            <a:ext cx="45085" cy="45085"/>
            <a:chOff x="5138692" y="16232075"/>
            <a:chExt cx="45085" cy="45085"/>
          </a:xfrm>
        </p:grpSpPr>
        <p:sp>
          <p:nvSpPr>
            <p:cNvPr id="406" name="object 406"/>
            <p:cNvSpPr/>
            <p:nvPr/>
          </p:nvSpPr>
          <p:spPr>
            <a:xfrm>
              <a:off x="5142909" y="1623629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5142909" y="1623629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8" name="object 408"/>
          <p:cNvGrpSpPr/>
          <p:nvPr/>
        </p:nvGrpSpPr>
        <p:grpSpPr>
          <a:xfrm>
            <a:off x="5138692" y="16341369"/>
            <a:ext cx="45085" cy="45085"/>
            <a:chOff x="5138692" y="16341369"/>
            <a:chExt cx="45085" cy="45085"/>
          </a:xfrm>
        </p:grpSpPr>
        <p:sp>
          <p:nvSpPr>
            <p:cNvPr id="409" name="object 409"/>
            <p:cNvSpPr/>
            <p:nvPr/>
          </p:nvSpPr>
          <p:spPr>
            <a:xfrm>
              <a:off x="5142909" y="1634558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5142909" y="1634558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1" name="object 411"/>
          <p:cNvGrpSpPr/>
          <p:nvPr/>
        </p:nvGrpSpPr>
        <p:grpSpPr>
          <a:xfrm>
            <a:off x="5138692" y="16450664"/>
            <a:ext cx="45085" cy="45085"/>
            <a:chOff x="5138692" y="16450664"/>
            <a:chExt cx="45085" cy="45085"/>
          </a:xfrm>
        </p:grpSpPr>
        <p:sp>
          <p:nvSpPr>
            <p:cNvPr id="412" name="object 412"/>
            <p:cNvSpPr/>
            <p:nvPr/>
          </p:nvSpPr>
          <p:spPr>
            <a:xfrm>
              <a:off x="5142909" y="1645488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5142909" y="1645488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4" name="object 414"/>
          <p:cNvGrpSpPr/>
          <p:nvPr/>
        </p:nvGrpSpPr>
        <p:grpSpPr>
          <a:xfrm>
            <a:off x="5138692" y="16559958"/>
            <a:ext cx="45085" cy="45085"/>
            <a:chOff x="5138692" y="16559958"/>
            <a:chExt cx="45085" cy="45085"/>
          </a:xfrm>
        </p:grpSpPr>
        <p:sp>
          <p:nvSpPr>
            <p:cNvPr id="415" name="object 415"/>
            <p:cNvSpPr/>
            <p:nvPr/>
          </p:nvSpPr>
          <p:spPr>
            <a:xfrm>
              <a:off x="5142909" y="1656417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5142909" y="1656417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7" name="object 417"/>
          <p:cNvGrpSpPr/>
          <p:nvPr/>
        </p:nvGrpSpPr>
        <p:grpSpPr>
          <a:xfrm>
            <a:off x="5138692" y="16669252"/>
            <a:ext cx="45085" cy="45085"/>
            <a:chOff x="5138692" y="16669252"/>
            <a:chExt cx="45085" cy="45085"/>
          </a:xfrm>
        </p:grpSpPr>
        <p:sp>
          <p:nvSpPr>
            <p:cNvPr id="418" name="object 418"/>
            <p:cNvSpPr/>
            <p:nvPr/>
          </p:nvSpPr>
          <p:spPr>
            <a:xfrm>
              <a:off x="5142909" y="1667346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5142909" y="1667346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0" name="object 420"/>
          <p:cNvGrpSpPr/>
          <p:nvPr/>
        </p:nvGrpSpPr>
        <p:grpSpPr>
          <a:xfrm>
            <a:off x="5138692" y="16778547"/>
            <a:ext cx="45085" cy="45085"/>
            <a:chOff x="5138692" y="16778547"/>
            <a:chExt cx="45085" cy="45085"/>
          </a:xfrm>
        </p:grpSpPr>
        <p:sp>
          <p:nvSpPr>
            <p:cNvPr id="421" name="object 421"/>
            <p:cNvSpPr/>
            <p:nvPr/>
          </p:nvSpPr>
          <p:spPr>
            <a:xfrm>
              <a:off x="5142909" y="1678276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5142909" y="1678276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3" name="object 423"/>
          <p:cNvGrpSpPr/>
          <p:nvPr/>
        </p:nvGrpSpPr>
        <p:grpSpPr>
          <a:xfrm>
            <a:off x="5138692" y="16887842"/>
            <a:ext cx="45085" cy="45085"/>
            <a:chOff x="5138692" y="16887842"/>
            <a:chExt cx="45085" cy="45085"/>
          </a:xfrm>
        </p:grpSpPr>
        <p:sp>
          <p:nvSpPr>
            <p:cNvPr id="424" name="object 424"/>
            <p:cNvSpPr/>
            <p:nvPr/>
          </p:nvSpPr>
          <p:spPr>
            <a:xfrm>
              <a:off x="5142909" y="1689205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5142909" y="1689205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6" name="object 426"/>
          <p:cNvGrpSpPr/>
          <p:nvPr/>
        </p:nvGrpSpPr>
        <p:grpSpPr>
          <a:xfrm>
            <a:off x="5138692" y="16997136"/>
            <a:ext cx="45085" cy="45085"/>
            <a:chOff x="5138692" y="16997136"/>
            <a:chExt cx="45085" cy="45085"/>
          </a:xfrm>
        </p:grpSpPr>
        <p:sp>
          <p:nvSpPr>
            <p:cNvPr id="427" name="object 427"/>
            <p:cNvSpPr/>
            <p:nvPr/>
          </p:nvSpPr>
          <p:spPr>
            <a:xfrm>
              <a:off x="5142909" y="1700135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5142909" y="1700135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9" name="object 429"/>
          <p:cNvGrpSpPr/>
          <p:nvPr/>
        </p:nvGrpSpPr>
        <p:grpSpPr>
          <a:xfrm>
            <a:off x="5138692" y="17106430"/>
            <a:ext cx="45085" cy="45085"/>
            <a:chOff x="5138692" y="17106430"/>
            <a:chExt cx="45085" cy="45085"/>
          </a:xfrm>
        </p:grpSpPr>
        <p:sp>
          <p:nvSpPr>
            <p:cNvPr id="430" name="object 430"/>
            <p:cNvSpPr/>
            <p:nvPr/>
          </p:nvSpPr>
          <p:spPr>
            <a:xfrm>
              <a:off x="5142909" y="1711064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5142909" y="1711064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2" name="object 432"/>
          <p:cNvGrpSpPr/>
          <p:nvPr/>
        </p:nvGrpSpPr>
        <p:grpSpPr>
          <a:xfrm>
            <a:off x="5138692" y="17215724"/>
            <a:ext cx="45085" cy="45085"/>
            <a:chOff x="5138692" y="17215724"/>
            <a:chExt cx="45085" cy="45085"/>
          </a:xfrm>
        </p:grpSpPr>
        <p:sp>
          <p:nvSpPr>
            <p:cNvPr id="433" name="object 433"/>
            <p:cNvSpPr/>
            <p:nvPr/>
          </p:nvSpPr>
          <p:spPr>
            <a:xfrm>
              <a:off x="5142909" y="1721994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5142909" y="1721994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5" name="object 435"/>
          <p:cNvGrpSpPr/>
          <p:nvPr/>
        </p:nvGrpSpPr>
        <p:grpSpPr>
          <a:xfrm>
            <a:off x="5138692" y="17325020"/>
            <a:ext cx="45085" cy="45085"/>
            <a:chOff x="5138692" y="17325020"/>
            <a:chExt cx="45085" cy="45085"/>
          </a:xfrm>
        </p:grpSpPr>
        <p:sp>
          <p:nvSpPr>
            <p:cNvPr id="436" name="object 436"/>
            <p:cNvSpPr/>
            <p:nvPr/>
          </p:nvSpPr>
          <p:spPr>
            <a:xfrm>
              <a:off x="5142909" y="1732923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5142909" y="1732923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8" name="object 438"/>
          <p:cNvGrpSpPr/>
          <p:nvPr/>
        </p:nvGrpSpPr>
        <p:grpSpPr>
          <a:xfrm>
            <a:off x="5138692" y="17434314"/>
            <a:ext cx="45085" cy="45085"/>
            <a:chOff x="5138692" y="17434314"/>
            <a:chExt cx="45085" cy="45085"/>
          </a:xfrm>
        </p:grpSpPr>
        <p:sp>
          <p:nvSpPr>
            <p:cNvPr id="439" name="object 439"/>
            <p:cNvSpPr/>
            <p:nvPr/>
          </p:nvSpPr>
          <p:spPr>
            <a:xfrm>
              <a:off x="5142909" y="1743853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5142909" y="1743853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1" name="object 441"/>
          <p:cNvGrpSpPr/>
          <p:nvPr/>
        </p:nvGrpSpPr>
        <p:grpSpPr>
          <a:xfrm>
            <a:off x="5138692" y="17543608"/>
            <a:ext cx="45085" cy="45085"/>
            <a:chOff x="5138692" y="17543608"/>
            <a:chExt cx="45085" cy="45085"/>
          </a:xfrm>
        </p:grpSpPr>
        <p:sp>
          <p:nvSpPr>
            <p:cNvPr id="442" name="object 442"/>
            <p:cNvSpPr/>
            <p:nvPr/>
          </p:nvSpPr>
          <p:spPr>
            <a:xfrm>
              <a:off x="5142909" y="1754782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5142909" y="1754782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4" name="object 444"/>
          <p:cNvGrpSpPr/>
          <p:nvPr/>
        </p:nvGrpSpPr>
        <p:grpSpPr>
          <a:xfrm>
            <a:off x="5138692" y="17652902"/>
            <a:ext cx="45085" cy="45085"/>
            <a:chOff x="5138692" y="17652902"/>
            <a:chExt cx="45085" cy="45085"/>
          </a:xfrm>
        </p:grpSpPr>
        <p:sp>
          <p:nvSpPr>
            <p:cNvPr id="445" name="object 445"/>
            <p:cNvSpPr/>
            <p:nvPr/>
          </p:nvSpPr>
          <p:spPr>
            <a:xfrm>
              <a:off x="5142909" y="1765711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5142909" y="1765711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7" name="object 447"/>
          <p:cNvGrpSpPr/>
          <p:nvPr/>
        </p:nvGrpSpPr>
        <p:grpSpPr>
          <a:xfrm>
            <a:off x="5138692" y="17762196"/>
            <a:ext cx="45085" cy="45085"/>
            <a:chOff x="5138692" y="17762196"/>
            <a:chExt cx="45085" cy="45085"/>
          </a:xfrm>
        </p:grpSpPr>
        <p:sp>
          <p:nvSpPr>
            <p:cNvPr id="448" name="object 448"/>
            <p:cNvSpPr/>
            <p:nvPr/>
          </p:nvSpPr>
          <p:spPr>
            <a:xfrm>
              <a:off x="5142909" y="1776641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5142909" y="1776641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0" name="object 450"/>
          <p:cNvGrpSpPr/>
          <p:nvPr/>
        </p:nvGrpSpPr>
        <p:grpSpPr>
          <a:xfrm>
            <a:off x="5138692" y="17871492"/>
            <a:ext cx="45085" cy="45085"/>
            <a:chOff x="5138692" y="17871492"/>
            <a:chExt cx="45085" cy="45085"/>
          </a:xfrm>
        </p:grpSpPr>
        <p:sp>
          <p:nvSpPr>
            <p:cNvPr id="451" name="object 451"/>
            <p:cNvSpPr/>
            <p:nvPr/>
          </p:nvSpPr>
          <p:spPr>
            <a:xfrm>
              <a:off x="5142909" y="1787570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5142909" y="1787570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3" name="object 453"/>
          <p:cNvGrpSpPr/>
          <p:nvPr/>
        </p:nvGrpSpPr>
        <p:grpSpPr>
          <a:xfrm>
            <a:off x="5138692" y="17980786"/>
            <a:ext cx="45085" cy="45085"/>
            <a:chOff x="5138692" y="17980786"/>
            <a:chExt cx="45085" cy="45085"/>
          </a:xfrm>
        </p:grpSpPr>
        <p:sp>
          <p:nvSpPr>
            <p:cNvPr id="454" name="object 454"/>
            <p:cNvSpPr/>
            <p:nvPr/>
          </p:nvSpPr>
          <p:spPr>
            <a:xfrm>
              <a:off x="5142909" y="1798500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5142909" y="1798500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6" name="object 456"/>
          <p:cNvGrpSpPr/>
          <p:nvPr/>
        </p:nvGrpSpPr>
        <p:grpSpPr>
          <a:xfrm>
            <a:off x="5138692" y="18090080"/>
            <a:ext cx="45085" cy="45085"/>
            <a:chOff x="5138692" y="18090080"/>
            <a:chExt cx="45085" cy="45085"/>
          </a:xfrm>
        </p:grpSpPr>
        <p:sp>
          <p:nvSpPr>
            <p:cNvPr id="457" name="object 457"/>
            <p:cNvSpPr/>
            <p:nvPr/>
          </p:nvSpPr>
          <p:spPr>
            <a:xfrm>
              <a:off x="5142909" y="1809429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5142909" y="1809429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9" name="object 459"/>
          <p:cNvGrpSpPr/>
          <p:nvPr/>
        </p:nvGrpSpPr>
        <p:grpSpPr>
          <a:xfrm>
            <a:off x="5138692" y="18199374"/>
            <a:ext cx="45085" cy="45085"/>
            <a:chOff x="5138692" y="18199374"/>
            <a:chExt cx="45085" cy="45085"/>
          </a:xfrm>
        </p:grpSpPr>
        <p:sp>
          <p:nvSpPr>
            <p:cNvPr id="460" name="object 460"/>
            <p:cNvSpPr/>
            <p:nvPr/>
          </p:nvSpPr>
          <p:spPr>
            <a:xfrm>
              <a:off x="5142909" y="1820359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5142909" y="1820359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2" name="object 462"/>
          <p:cNvGrpSpPr/>
          <p:nvPr/>
        </p:nvGrpSpPr>
        <p:grpSpPr>
          <a:xfrm>
            <a:off x="5138692" y="18308668"/>
            <a:ext cx="45085" cy="45085"/>
            <a:chOff x="5138692" y="18308668"/>
            <a:chExt cx="45085" cy="45085"/>
          </a:xfrm>
        </p:grpSpPr>
        <p:sp>
          <p:nvSpPr>
            <p:cNvPr id="463" name="object 463"/>
            <p:cNvSpPr/>
            <p:nvPr/>
          </p:nvSpPr>
          <p:spPr>
            <a:xfrm>
              <a:off x="5142909" y="1831288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5142909" y="1831288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5" name="object 465"/>
          <p:cNvGrpSpPr/>
          <p:nvPr/>
        </p:nvGrpSpPr>
        <p:grpSpPr>
          <a:xfrm>
            <a:off x="5138692" y="18417964"/>
            <a:ext cx="45085" cy="45085"/>
            <a:chOff x="5138692" y="18417964"/>
            <a:chExt cx="45085" cy="45085"/>
          </a:xfrm>
        </p:grpSpPr>
        <p:sp>
          <p:nvSpPr>
            <p:cNvPr id="466" name="object 466"/>
            <p:cNvSpPr/>
            <p:nvPr/>
          </p:nvSpPr>
          <p:spPr>
            <a:xfrm>
              <a:off x="5142909" y="1842218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5142909" y="1842218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8" name="object 468"/>
          <p:cNvGrpSpPr/>
          <p:nvPr/>
        </p:nvGrpSpPr>
        <p:grpSpPr>
          <a:xfrm>
            <a:off x="5138692" y="18527258"/>
            <a:ext cx="45085" cy="45085"/>
            <a:chOff x="5138692" y="18527258"/>
            <a:chExt cx="45085" cy="45085"/>
          </a:xfrm>
        </p:grpSpPr>
        <p:sp>
          <p:nvSpPr>
            <p:cNvPr id="469" name="object 469"/>
            <p:cNvSpPr/>
            <p:nvPr/>
          </p:nvSpPr>
          <p:spPr>
            <a:xfrm>
              <a:off x="5142909" y="1853147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5142909" y="1853147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1" name="object 471"/>
          <p:cNvGrpSpPr/>
          <p:nvPr/>
        </p:nvGrpSpPr>
        <p:grpSpPr>
          <a:xfrm>
            <a:off x="5138692" y="18636552"/>
            <a:ext cx="45085" cy="45085"/>
            <a:chOff x="5138692" y="18636552"/>
            <a:chExt cx="45085" cy="45085"/>
          </a:xfrm>
        </p:grpSpPr>
        <p:sp>
          <p:nvSpPr>
            <p:cNvPr id="472" name="object 472"/>
            <p:cNvSpPr/>
            <p:nvPr/>
          </p:nvSpPr>
          <p:spPr>
            <a:xfrm>
              <a:off x="5142909" y="1864076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5142909" y="1864076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4" name="object 474"/>
          <p:cNvGrpSpPr/>
          <p:nvPr/>
        </p:nvGrpSpPr>
        <p:grpSpPr>
          <a:xfrm>
            <a:off x="5138692" y="18745846"/>
            <a:ext cx="45085" cy="45085"/>
            <a:chOff x="5138692" y="18745846"/>
            <a:chExt cx="45085" cy="45085"/>
          </a:xfrm>
        </p:grpSpPr>
        <p:sp>
          <p:nvSpPr>
            <p:cNvPr id="475" name="object 475"/>
            <p:cNvSpPr/>
            <p:nvPr/>
          </p:nvSpPr>
          <p:spPr>
            <a:xfrm>
              <a:off x="5142909" y="1875006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5142909" y="1875006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7" name="object 477"/>
          <p:cNvGrpSpPr/>
          <p:nvPr/>
        </p:nvGrpSpPr>
        <p:grpSpPr>
          <a:xfrm>
            <a:off x="5138692" y="18855142"/>
            <a:ext cx="45085" cy="45085"/>
            <a:chOff x="5138692" y="18855142"/>
            <a:chExt cx="45085" cy="45085"/>
          </a:xfrm>
        </p:grpSpPr>
        <p:sp>
          <p:nvSpPr>
            <p:cNvPr id="478" name="object 478"/>
            <p:cNvSpPr/>
            <p:nvPr/>
          </p:nvSpPr>
          <p:spPr>
            <a:xfrm>
              <a:off x="5142909" y="1885935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5142909" y="1885935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0" name="object 480"/>
          <p:cNvGrpSpPr/>
          <p:nvPr/>
        </p:nvGrpSpPr>
        <p:grpSpPr>
          <a:xfrm>
            <a:off x="5138692" y="18964436"/>
            <a:ext cx="45085" cy="45085"/>
            <a:chOff x="5138692" y="18964436"/>
            <a:chExt cx="45085" cy="45085"/>
          </a:xfrm>
        </p:grpSpPr>
        <p:sp>
          <p:nvSpPr>
            <p:cNvPr id="481" name="object 481"/>
            <p:cNvSpPr/>
            <p:nvPr/>
          </p:nvSpPr>
          <p:spPr>
            <a:xfrm>
              <a:off x="5142909" y="1896865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5142909" y="1896865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3" name="object 483"/>
          <p:cNvGrpSpPr/>
          <p:nvPr/>
        </p:nvGrpSpPr>
        <p:grpSpPr>
          <a:xfrm>
            <a:off x="5138692" y="19073730"/>
            <a:ext cx="45085" cy="45085"/>
            <a:chOff x="5138692" y="19073730"/>
            <a:chExt cx="45085" cy="45085"/>
          </a:xfrm>
        </p:grpSpPr>
        <p:sp>
          <p:nvSpPr>
            <p:cNvPr id="484" name="object 484"/>
            <p:cNvSpPr/>
            <p:nvPr/>
          </p:nvSpPr>
          <p:spPr>
            <a:xfrm>
              <a:off x="5142909" y="1907794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5142909" y="19077946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6" name="object 486"/>
          <p:cNvGrpSpPr/>
          <p:nvPr/>
        </p:nvGrpSpPr>
        <p:grpSpPr>
          <a:xfrm>
            <a:off x="5138692" y="19183024"/>
            <a:ext cx="45085" cy="45085"/>
            <a:chOff x="5138692" y="19183024"/>
            <a:chExt cx="45085" cy="45085"/>
          </a:xfrm>
        </p:grpSpPr>
        <p:sp>
          <p:nvSpPr>
            <p:cNvPr id="487" name="object 487"/>
            <p:cNvSpPr/>
            <p:nvPr/>
          </p:nvSpPr>
          <p:spPr>
            <a:xfrm>
              <a:off x="5142909" y="1918724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4"/>
                  </a:lnTo>
                  <a:lnTo>
                    <a:pt x="5344" y="5344"/>
                  </a:lnTo>
                  <a:lnTo>
                    <a:pt x="1434" y="11135"/>
                  </a:lnTo>
                  <a:lnTo>
                    <a:pt x="0" y="18215"/>
                  </a:lnTo>
                  <a:lnTo>
                    <a:pt x="1434" y="25295"/>
                  </a:lnTo>
                  <a:lnTo>
                    <a:pt x="5344" y="31086"/>
                  </a:lnTo>
                  <a:lnTo>
                    <a:pt x="11135" y="34996"/>
                  </a:lnTo>
                  <a:lnTo>
                    <a:pt x="18215" y="36431"/>
                  </a:lnTo>
                  <a:lnTo>
                    <a:pt x="25295" y="34996"/>
                  </a:lnTo>
                  <a:lnTo>
                    <a:pt x="31086" y="31086"/>
                  </a:lnTo>
                  <a:lnTo>
                    <a:pt x="34996" y="25295"/>
                  </a:lnTo>
                  <a:lnTo>
                    <a:pt x="36431" y="18215"/>
                  </a:lnTo>
                  <a:lnTo>
                    <a:pt x="34996" y="11135"/>
                  </a:lnTo>
                  <a:lnTo>
                    <a:pt x="31086" y="5344"/>
                  </a:lnTo>
                  <a:lnTo>
                    <a:pt x="25295" y="1434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5142909" y="19187241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35"/>
                  </a:lnTo>
                  <a:lnTo>
                    <a:pt x="5344" y="5344"/>
                  </a:lnTo>
                  <a:lnTo>
                    <a:pt x="11135" y="1434"/>
                  </a:lnTo>
                  <a:lnTo>
                    <a:pt x="18215" y="0"/>
                  </a:lnTo>
                  <a:lnTo>
                    <a:pt x="25295" y="1434"/>
                  </a:lnTo>
                  <a:lnTo>
                    <a:pt x="31086" y="5344"/>
                  </a:lnTo>
                  <a:lnTo>
                    <a:pt x="34996" y="11135"/>
                  </a:lnTo>
                  <a:lnTo>
                    <a:pt x="36431" y="18215"/>
                  </a:lnTo>
                  <a:lnTo>
                    <a:pt x="34996" y="25295"/>
                  </a:lnTo>
                  <a:lnTo>
                    <a:pt x="31086" y="31086"/>
                  </a:lnTo>
                  <a:lnTo>
                    <a:pt x="25295" y="34996"/>
                  </a:lnTo>
                  <a:lnTo>
                    <a:pt x="18215" y="36431"/>
                  </a:lnTo>
                  <a:lnTo>
                    <a:pt x="11135" y="34996"/>
                  </a:lnTo>
                  <a:lnTo>
                    <a:pt x="5344" y="31086"/>
                  </a:lnTo>
                  <a:lnTo>
                    <a:pt x="1434" y="25295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9" name="object 489"/>
          <p:cNvGrpSpPr/>
          <p:nvPr/>
        </p:nvGrpSpPr>
        <p:grpSpPr>
          <a:xfrm>
            <a:off x="5138692" y="19292318"/>
            <a:ext cx="45085" cy="45085"/>
            <a:chOff x="5138692" y="19292318"/>
            <a:chExt cx="45085" cy="45085"/>
          </a:xfrm>
        </p:grpSpPr>
        <p:sp>
          <p:nvSpPr>
            <p:cNvPr id="490" name="object 490"/>
            <p:cNvSpPr/>
            <p:nvPr/>
          </p:nvSpPr>
          <p:spPr>
            <a:xfrm>
              <a:off x="5142909" y="1929653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1"/>
                  </a:lnTo>
                  <a:lnTo>
                    <a:pt x="5344" y="5335"/>
                  </a:lnTo>
                  <a:lnTo>
                    <a:pt x="1434" y="11125"/>
                  </a:lnTo>
                  <a:lnTo>
                    <a:pt x="0" y="18215"/>
                  </a:lnTo>
                  <a:lnTo>
                    <a:pt x="1434" y="25306"/>
                  </a:lnTo>
                  <a:lnTo>
                    <a:pt x="5344" y="31096"/>
                  </a:lnTo>
                  <a:lnTo>
                    <a:pt x="11135" y="35000"/>
                  </a:lnTo>
                  <a:lnTo>
                    <a:pt x="18215" y="36431"/>
                  </a:lnTo>
                  <a:lnTo>
                    <a:pt x="25295" y="35000"/>
                  </a:lnTo>
                  <a:lnTo>
                    <a:pt x="31086" y="31096"/>
                  </a:lnTo>
                  <a:lnTo>
                    <a:pt x="34996" y="25306"/>
                  </a:lnTo>
                  <a:lnTo>
                    <a:pt x="36431" y="18215"/>
                  </a:lnTo>
                  <a:lnTo>
                    <a:pt x="34996" y="11125"/>
                  </a:lnTo>
                  <a:lnTo>
                    <a:pt x="31086" y="5335"/>
                  </a:lnTo>
                  <a:lnTo>
                    <a:pt x="25295" y="1431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5142909" y="19296535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25"/>
                  </a:lnTo>
                  <a:lnTo>
                    <a:pt x="5344" y="5335"/>
                  </a:lnTo>
                  <a:lnTo>
                    <a:pt x="11135" y="1431"/>
                  </a:lnTo>
                  <a:lnTo>
                    <a:pt x="18215" y="0"/>
                  </a:lnTo>
                  <a:lnTo>
                    <a:pt x="25295" y="1431"/>
                  </a:lnTo>
                  <a:lnTo>
                    <a:pt x="31086" y="5335"/>
                  </a:lnTo>
                  <a:lnTo>
                    <a:pt x="34996" y="11125"/>
                  </a:lnTo>
                  <a:lnTo>
                    <a:pt x="36431" y="18215"/>
                  </a:lnTo>
                  <a:lnTo>
                    <a:pt x="34996" y="25306"/>
                  </a:lnTo>
                  <a:lnTo>
                    <a:pt x="31086" y="31096"/>
                  </a:lnTo>
                  <a:lnTo>
                    <a:pt x="25295" y="35000"/>
                  </a:lnTo>
                  <a:lnTo>
                    <a:pt x="18215" y="36431"/>
                  </a:lnTo>
                  <a:lnTo>
                    <a:pt x="11135" y="35000"/>
                  </a:lnTo>
                  <a:lnTo>
                    <a:pt x="5344" y="31096"/>
                  </a:lnTo>
                  <a:lnTo>
                    <a:pt x="1434" y="25306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2" name="object 492"/>
          <p:cNvGrpSpPr/>
          <p:nvPr/>
        </p:nvGrpSpPr>
        <p:grpSpPr>
          <a:xfrm>
            <a:off x="5138692" y="19401614"/>
            <a:ext cx="45085" cy="45085"/>
            <a:chOff x="5138692" y="19401614"/>
            <a:chExt cx="45085" cy="45085"/>
          </a:xfrm>
        </p:grpSpPr>
        <p:sp>
          <p:nvSpPr>
            <p:cNvPr id="493" name="object 493"/>
            <p:cNvSpPr/>
            <p:nvPr/>
          </p:nvSpPr>
          <p:spPr>
            <a:xfrm>
              <a:off x="5142909" y="1940583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1"/>
                  </a:lnTo>
                  <a:lnTo>
                    <a:pt x="5344" y="5335"/>
                  </a:lnTo>
                  <a:lnTo>
                    <a:pt x="1434" y="11125"/>
                  </a:lnTo>
                  <a:lnTo>
                    <a:pt x="0" y="18215"/>
                  </a:lnTo>
                  <a:lnTo>
                    <a:pt x="1434" y="25306"/>
                  </a:lnTo>
                  <a:lnTo>
                    <a:pt x="5344" y="31096"/>
                  </a:lnTo>
                  <a:lnTo>
                    <a:pt x="11135" y="35000"/>
                  </a:lnTo>
                  <a:lnTo>
                    <a:pt x="18215" y="36431"/>
                  </a:lnTo>
                  <a:lnTo>
                    <a:pt x="25295" y="35000"/>
                  </a:lnTo>
                  <a:lnTo>
                    <a:pt x="31086" y="31096"/>
                  </a:lnTo>
                  <a:lnTo>
                    <a:pt x="34996" y="25306"/>
                  </a:lnTo>
                  <a:lnTo>
                    <a:pt x="36431" y="18215"/>
                  </a:lnTo>
                  <a:lnTo>
                    <a:pt x="34996" y="11125"/>
                  </a:lnTo>
                  <a:lnTo>
                    <a:pt x="31086" y="5335"/>
                  </a:lnTo>
                  <a:lnTo>
                    <a:pt x="25295" y="1431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5142909" y="1940583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25"/>
                  </a:lnTo>
                  <a:lnTo>
                    <a:pt x="5344" y="5335"/>
                  </a:lnTo>
                  <a:lnTo>
                    <a:pt x="11135" y="1431"/>
                  </a:lnTo>
                  <a:lnTo>
                    <a:pt x="18215" y="0"/>
                  </a:lnTo>
                  <a:lnTo>
                    <a:pt x="25295" y="1431"/>
                  </a:lnTo>
                  <a:lnTo>
                    <a:pt x="31086" y="5335"/>
                  </a:lnTo>
                  <a:lnTo>
                    <a:pt x="34996" y="11125"/>
                  </a:lnTo>
                  <a:lnTo>
                    <a:pt x="36431" y="18215"/>
                  </a:lnTo>
                  <a:lnTo>
                    <a:pt x="34996" y="25306"/>
                  </a:lnTo>
                  <a:lnTo>
                    <a:pt x="31086" y="31096"/>
                  </a:lnTo>
                  <a:lnTo>
                    <a:pt x="25295" y="35000"/>
                  </a:lnTo>
                  <a:lnTo>
                    <a:pt x="18215" y="36431"/>
                  </a:lnTo>
                  <a:lnTo>
                    <a:pt x="11135" y="35000"/>
                  </a:lnTo>
                  <a:lnTo>
                    <a:pt x="5344" y="31096"/>
                  </a:lnTo>
                  <a:lnTo>
                    <a:pt x="1434" y="25306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5" name="object 495"/>
          <p:cNvGrpSpPr/>
          <p:nvPr/>
        </p:nvGrpSpPr>
        <p:grpSpPr>
          <a:xfrm>
            <a:off x="5138692" y="19510908"/>
            <a:ext cx="45085" cy="45085"/>
            <a:chOff x="5138692" y="19510908"/>
            <a:chExt cx="45085" cy="45085"/>
          </a:xfrm>
        </p:grpSpPr>
        <p:sp>
          <p:nvSpPr>
            <p:cNvPr id="496" name="object 496"/>
            <p:cNvSpPr/>
            <p:nvPr/>
          </p:nvSpPr>
          <p:spPr>
            <a:xfrm>
              <a:off x="5142909" y="1951512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1"/>
                  </a:lnTo>
                  <a:lnTo>
                    <a:pt x="5344" y="5335"/>
                  </a:lnTo>
                  <a:lnTo>
                    <a:pt x="1434" y="11125"/>
                  </a:lnTo>
                  <a:lnTo>
                    <a:pt x="0" y="18215"/>
                  </a:lnTo>
                  <a:lnTo>
                    <a:pt x="1434" y="25306"/>
                  </a:lnTo>
                  <a:lnTo>
                    <a:pt x="5344" y="31096"/>
                  </a:lnTo>
                  <a:lnTo>
                    <a:pt x="11135" y="35000"/>
                  </a:lnTo>
                  <a:lnTo>
                    <a:pt x="18215" y="36431"/>
                  </a:lnTo>
                  <a:lnTo>
                    <a:pt x="25295" y="35000"/>
                  </a:lnTo>
                  <a:lnTo>
                    <a:pt x="31086" y="31096"/>
                  </a:lnTo>
                  <a:lnTo>
                    <a:pt x="34996" y="25306"/>
                  </a:lnTo>
                  <a:lnTo>
                    <a:pt x="36431" y="18215"/>
                  </a:lnTo>
                  <a:lnTo>
                    <a:pt x="34996" y="11125"/>
                  </a:lnTo>
                  <a:lnTo>
                    <a:pt x="31086" y="5335"/>
                  </a:lnTo>
                  <a:lnTo>
                    <a:pt x="25295" y="1431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5142909" y="19515124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25"/>
                  </a:lnTo>
                  <a:lnTo>
                    <a:pt x="5344" y="5335"/>
                  </a:lnTo>
                  <a:lnTo>
                    <a:pt x="11135" y="1431"/>
                  </a:lnTo>
                  <a:lnTo>
                    <a:pt x="18215" y="0"/>
                  </a:lnTo>
                  <a:lnTo>
                    <a:pt x="25295" y="1431"/>
                  </a:lnTo>
                  <a:lnTo>
                    <a:pt x="31086" y="5335"/>
                  </a:lnTo>
                  <a:lnTo>
                    <a:pt x="34996" y="11125"/>
                  </a:lnTo>
                  <a:lnTo>
                    <a:pt x="36431" y="18215"/>
                  </a:lnTo>
                  <a:lnTo>
                    <a:pt x="34996" y="25306"/>
                  </a:lnTo>
                  <a:lnTo>
                    <a:pt x="31086" y="31096"/>
                  </a:lnTo>
                  <a:lnTo>
                    <a:pt x="25295" y="35000"/>
                  </a:lnTo>
                  <a:lnTo>
                    <a:pt x="18215" y="36431"/>
                  </a:lnTo>
                  <a:lnTo>
                    <a:pt x="11135" y="35000"/>
                  </a:lnTo>
                  <a:lnTo>
                    <a:pt x="5344" y="31096"/>
                  </a:lnTo>
                  <a:lnTo>
                    <a:pt x="1434" y="25306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8" name="object 498"/>
          <p:cNvGrpSpPr/>
          <p:nvPr/>
        </p:nvGrpSpPr>
        <p:grpSpPr>
          <a:xfrm>
            <a:off x="0" y="19620202"/>
            <a:ext cx="14202410" cy="484505"/>
            <a:chOff x="0" y="19620202"/>
            <a:chExt cx="14202410" cy="484505"/>
          </a:xfrm>
        </p:grpSpPr>
        <p:sp>
          <p:nvSpPr>
            <p:cNvPr id="499" name="object 499"/>
            <p:cNvSpPr/>
            <p:nvPr/>
          </p:nvSpPr>
          <p:spPr>
            <a:xfrm>
              <a:off x="5142909" y="1962441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215" y="0"/>
                  </a:moveTo>
                  <a:lnTo>
                    <a:pt x="11135" y="1431"/>
                  </a:lnTo>
                  <a:lnTo>
                    <a:pt x="5344" y="5335"/>
                  </a:lnTo>
                  <a:lnTo>
                    <a:pt x="1434" y="11125"/>
                  </a:lnTo>
                  <a:lnTo>
                    <a:pt x="0" y="18215"/>
                  </a:lnTo>
                  <a:lnTo>
                    <a:pt x="1434" y="25306"/>
                  </a:lnTo>
                  <a:lnTo>
                    <a:pt x="5344" y="31096"/>
                  </a:lnTo>
                  <a:lnTo>
                    <a:pt x="11135" y="35000"/>
                  </a:lnTo>
                  <a:lnTo>
                    <a:pt x="18215" y="36431"/>
                  </a:lnTo>
                  <a:lnTo>
                    <a:pt x="25295" y="35000"/>
                  </a:lnTo>
                  <a:lnTo>
                    <a:pt x="31086" y="31096"/>
                  </a:lnTo>
                  <a:lnTo>
                    <a:pt x="34996" y="25306"/>
                  </a:lnTo>
                  <a:lnTo>
                    <a:pt x="36431" y="18215"/>
                  </a:lnTo>
                  <a:lnTo>
                    <a:pt x="34996" y="11125"/>
                  </a:lnTo>
                  <a:lnTo>
                    <a:pt x="31086" y="5335"/>
                  </a:lnTo>
                  <a:lnTo>
                    <a:pt x="25295" y="1431"/>
                  </a:lnTo>
                  <a:lnTo>
                    <a:pt x="18215" y="0"/>
                  </a:lnTo>
                  <a:close/>
                </a:path>
              </a:pathLst>
            </a:custGeom>
            <a:solidFill>
              <a:srgbClr val="D0D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5142909" y="1962441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0" y="18215"/>
                  </a:moveTo>
                  <a:lnTo>
                    <a:pt x="1434" y="11125"/>
                  </a:lnTo>
                  <a:lnTo>
                    <a:pt x="5344" y="5335"/>
                  </a:lnTo>
                  <a:lnTo>
                    <a:pt x="11135" y="1431"/>
                  </a:lnTo>
                  <a:lnTo>
                    <a:pt x="18215" y="0"/>
                  </a:lnTo>
                  <a:lnTo>
                    <a:pt x="25295" y="1431"/>
                  </a:lnTo>
                  <a:lnTo>
                    <a:pt x="31086" y="5335"/>
                  </a:lnTo>
                  <a:lnTo>
                    <a:pt x="34996" y="11125"/>
                  </a:lnTo>
                  <a:lnTo>
                    <a:pt x="36431" y="18215"/>
                  </a:lnTo>
                  <a:lnTo>
                    <a:pt x="34996" y="25306"/>
                  </a:lnTo>
                  <a:lnTo>
                    <a:pt x="31086" y="31096"/>
                  </a:lnTo>
                  <a:lnTo>
                    <a:pt x="25295" y="35000"/>
                  </a:lnTo>
                  <a:lnTo>
                    <a:pt x="18215" y="36431"/>
                  </a:lnTo>
                  <a:lnTo>
                    <a:pt x="11135" y="35000"/>
                  </a:lnTo>
                  <a:lnTo>
                    <a:pt x="5344" y="31096"/>
                  </a:lnTo>
                  <a:lnTo>
                    <a:pt x="1434" y="25306"/>
                  </a:lnTo>
                  <a:lnTo>
                    <a:pt x="0" y="18215"/>
                  </a:lnTo>
                  <a:close/>
                </a:path>
              </a:pathLst>
            </a:custGeom>
            <a:ln w="8433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0" y="19703353"/>
              <a:ext cx="14202410" cy="401320"/>
            </a:xfrm>
            <a:custGeom>
              <a:avLst/>
              <a:gdLst/>
              <a:ahLst/>
              <a:cxnLst/>
              <a:rect l="l" t="t" r="r" b="b"/>
              <a:pathLst>
                <a:path w="14202410" h="401319">
                  <a:moveTo>
                    <a:pt x="14202202" y="0"/>
                  </a:moveTo>
                  <a:lnTo>
                    <a:pt x="0" y="0"/>
                  </a:lnTo>
                  <a:lnTo>
                    <a:pt x="0" y="400746"/>
                  </a:lnTo>
                  <a:lnTo>
                    <a:pt x="14202202" y="400746"/>
                  </a:lnTo>
                  <a:lnTo>
                    <a:pt x="14202202" y="0"/>
                  </a:lnTo>
                  <a:close/>
                </a:path>
              </a:pathLst>
            </a:custGeom>
            <a:solidFill>
              <a:srgbClr val="C413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2" name="object 502"/>
          <p:cNvSpPr txBox="1"/>
          <p:nvPr/>
        </p:nvSpPr>
        <p:spPr>
          <a:xfrm>
            <a:off x="199816" y="1627524"/>
            <a:ext cx="4883150" cy="1021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69815" algn="l"/>
              </a:tabLst>
            </a:pP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PROBLEM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  <a:p>
            <a:pPr marL="73025" marR="302260">
              <a:lnSpc>
                <a:spcPct val="119500"/>
              </a:lnSpc>
              <a:spcBef>
                <a:spcPts val="755"/>
              </a:spcBef>
            </a:pP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Bitcoin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direction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forecasting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sz="12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not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one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prediction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problem.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Horizon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choice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changes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signal-to-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noise</a:t>
            </a:r>
            <a:r>
              <a:rPr sz="12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ratio,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effective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sample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size,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and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2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type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downstream</a:t>
            </a:r>
            <a:r>
              <a:rPr sz="12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decision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must</a:t>
            </a:r>
            <a:r>
              <a:rPr sz="12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support: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3" name="object 503"/>
          <p:cNvSpPr txBox="1"/>
          <p:nvPr/>
        </p:nvSpPr>
        <p:spPr>
          <a:xfrm>
            <a:off x="260536" y="2656072"/>
            <a:ext cx="4511040" cy="1850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965">
              <a:lnSpc>
                <a:spcPct val="1195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Short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horizons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(5-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min)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are</a:t>
            </a:r>
            <a:r>
              <a:rPr sz="12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dominated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by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micro-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movements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and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rapid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reversals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where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gains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above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chance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are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modest.</a:t>
            </a:r>
            <a:endParaRPr sz="1200">
              <a:latin typeface="Arial MT"/>
              <a:cs typeface="Arial MT"/>
            </a:endParaRPr>
          </a:p>
          <a:p>
            <a:pPr marL="240029" marR="299720" indent="-227965">
              <a:lnSpc>
                <a:spcPct val="119500"/>
              </a:lnSpc>
              <a:spcBef>
                <a:spcPts val="200"/>
              </a:spcBef>
              <a:buChar char="•"/>
              <a:tabLst>
                <a:tab pos="240029" algn="l"/>
              </a:tabLst>
            </a:pP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Medium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horizons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(1-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hour)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reduce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noise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but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still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require</a:t>
            </a:r>
            <a:r>
              <a:rPr sz="12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11111"/>
                </a:solidFill>
                <a:latin typeface="Arial MT"/>
                <a:cs typeface="Arial MT"/>
              </a:rPr>
              <a:t>fast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adaptation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sz="12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changing</a:t>
            </a:r>
            <a:r>
              <a:rPr sz="12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local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conditions.</a:t>
            </a:r>
            <a:endParaRPr sz="1200">
              <a:latin typeface="Arial MT"/>
              <a:cs typeface="Arial MT"/>
            </a:endParaRPr>
          </a:p>
          <a:p>
            <a:pPr marL="240029" marR="130810" indent="-227965">
              <a:lnSpc>
                <a:spcPct val="119500"/>
              </a:lnSpc>
              <a:spcBef>
                <a:spcPts val="200"/>
              </a:spcBef>
              <a:buChar char="•"/>
              <a:tabLst>
                <a:tab pos="240029" algn="l"/>
              </a:tabLst>
            </a:pP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Long</a:t>
            </a:r>
            <a:r>
              <a:rPr sz="12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horizons</a:t>
            </a:r>
            <a:r>
              <a:rPr sz="12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(1-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day) require</a:t>
            </a:r>
            <a:r>
              <a:rPr sz="12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multi-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bar</a:t>
            </a:r>
            <a:r>
              <a:rPr sz="12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path</a:t>
            </a:r>
            <a:r>
              <a:rPr sz="12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consistency</a:t>
            </a:r>
            <a:r>
              <a:rPr sz="12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11111"/>
                </a:solidFill>
                <a:latin typeface="Arial MT"/>
                <a:cs typeface="Arial MT"/>
              </a:rPr>
              <a:t>over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fewer</a:t>
            </a:r>
            <a:r>
              <a:rPr sz="12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evaluation</a:t>
            </a:r>
            <a:r>
              <a:rPr sz="12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points.</a:t>
            </a:r>
            <a:endParaRPr sz="1200">
              <a:latin typeface="Arial MT"/>
              <a:cs typeface="Arial MT"/>
            </a:endParaRPr>
          </a:p>
          <a:p>
            <a:pPr marL="240029" marR="267970" indent="-227965">
              <a:lnSpc>
                <a:spcPct val="119500"/>
              </a:lnSpc>
              <a:spcBef>
                <a:spcPts val="200"/>
              </a:spcBef>
              <a:buChar char="•"/>
              <a:tabLst>
                <a:tab pos="240029" algn="l"/>
              </a:tabLst>
            </a:pP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sz="1200" spc="-8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single</a:t>
            </a:r>
            <a:r>
              <a:rPr sz="1200" spc="-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adaptation</a:t>
            </a:r>
            <a:r>
              <a:rPr sz="12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strategy</a:t>
            </a:r>
            <a:r>
              <a:rPr sz="12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cannot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optimally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serve</a:t>
            </a:r>
            <a:r>
              <a:rPr sz="12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all</a:t>
            </a:r>
            <a:r>
              <a:rPr sz="12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three </a:t>
            </a:r>
            <a:r>
              <a:rPr sz="1200" dirty="0">
                <a:solidFill>
                  <a:srgbClr val="111111"/>
                </a:solidFill>
                <a:latin typeface="Arial MT"/>
                <a:cs typeface="Arial MT"/>
              </a:rPr>
              <a:t>regimes</a:t>
            </a:r>
            <a:r>
              <a:rPr sz="12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simultaneously.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4" name="object 504"/>
          <p:cNvSpPr txBox="1"/>
          <p:nvPr/>
        </p:nvSpPr>
        <p:spPr>
          <a:xfrm>
            <a:off x="199816" y="4754931"/>
            <a:ext cx="4883150" cy="1938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69815" algn="l"/>
              </a:tabLst>
            </a:pP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SOLUTION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 dirty="0">
              <a:latin typeface="Arial"/>
              <a:cs typeface="Arial"/>
            </a:endParaRPr>
          </a:p>
          <a:p>
            <a:pPr marL="73025" marR="78105">
              <a:lnSpc>
                <a:spcPct val="122600"/>
              </a:lnSpc>
              <a:spcBef>
                <a:spcPts val="730"/>
              </a:spcBef>
            </a:pP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Using</a:t>
            </a:r>
            <a:r>
              <a:rPr sz="1300" spc="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Kronos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financial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foundation</a:t>
            </a:r>
            <a:r>
              <a:rPr sz="13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model,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we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evaluate</a:t>
            </a:r>
            <a:r>
              <a:rPr sz="130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111111"/>
                </a:solidFill>
                <a:latin typeface="Arial MT"/>
                <a:cs typeface="Arial MT"/>
              </a:rPr>
              <a:t>three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distinct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adaptation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strategies</a:t>
            </a:r>
            <a:r>
              <a:rPr sz="1300" spc="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—</a:t>
            </a:r>
            <a:r>
              <a:rPr sz="1300" spc="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one</a:t>
            </a:r>
            <a:r>
              <a:rPr sz="1300" spc="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per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forecasting</a:t>
            </a:r>
            <a:r>
              <a:rPr sz="1300" spc="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horizon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111111"/>
                </a:solidFill>
                <a:latin typeface="Arial MT"/>
                <a:cs typeface="Arial MT"/>
              </a:rPr>
              <a:t>—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select</a:t>
            </a:r>
            <a:r>
              <a:rPr sz="13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strongest</a:t>
            </a:r>
            <a:r>
              <a:rPr sz="1300" spc="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deployment</a:t>
            </a:r>
            <a:r>
              <a:rPr sz="1300" spc="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candidate</a:t>
            </a:r>
            <a:r>
              <a:rPr sz="13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at</a:t>
            </a:r>
            <a:r>
              <a:rPr sz="1300" spc="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each</a:t>
            </a:r>
            <a:r>
              <a:rPr sz="13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111111"/>
                </a:solidFill>
                <a:latin typeface="Arial MT"/>
                <a:cs typeface="Arial MT"/>
              </a:rPr>
              <a:t>interval.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result</a:t>
            </a:r>
            <a:r>
              <a:rPr sz="1300" spc="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sz="1300" spc="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an</a:t>
            </a:r>
            <a:r>
              <a:rPr sz="130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interval-aware</a:t>
            </a:r>
            <a:r>
              <a:rPr sz="1300" spc="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framework</a:t>
            </a:r>
            <a:r>
              <a:rPr sz="1300" spc="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111111"/>
                </a:solidFill>
                <a:latin typeface="Arial MT"/>
                <a:cs typeface="Arial MT"/>
              </a:rPr>
              <a:t>explicitly</a:t>
            </a:r>
            <a:r>
              <a:rPr sz="1300" spc="5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matches</a:t>
            </a:r>
            <a:r>
              <a:rPr sz="13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300" spc="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adaptation</a:t>
            </a:r>
            <a:r>
              <a:rPr sz="1300" spc="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mechanism</a:t>
            </a:r>
            <a:r>
              <a:rPr sz="1300" spc="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sz="1300" spc="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300" spc="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11111"/>
                </a:solidFill>
                <a:latin typeface="Arial MT"/>
                <a:cs typeface="Arial MT"/>
              </a:rPr>
              <a:t>forecasting</a:t>
            </a:r>
            <a:r>
              <a:rPr sz="1300" spc="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111111"/>
                </a:solidFill>
                <a:latin typeface="Arial MT"/>
                <a:cs typeface="Arial MT"/>
              </a:rPr>
              <a:t>regime.</a:t>
            </a:r>
            <a:endParaRPr sz="13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4869815" algn="l"/>
              </a:tabLst>
            </a:pP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SYSTEM</a:t>
            </a:r>
            <a:r>
              <a:rPr sz="1600" b="1" u="sng" spc="-6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ARCHITECTURE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505" name="object 50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516" y="6770181"/>
            <a:ext cx="4857529" cy="3400270"/>
          </a:xfrm>
          <a:prstGeom prst="rect">
            <a:avLst/>
          </a:prstGeom>
        </p:spPr>
      </p:pic>
      <p:sp>
        <p:nvSpPr>
          <p:cNvPr id="506" name="object 506"/>
          <p:cNvSpPr txBox="1"/>
          <p:nvPr/>
        </p:nvSpPr>
        <p:spPr>
          <a:xfrm>
            <a:off x="199816" y="10316211"/>
            <a:ext cx="4883150" cy="11469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 marR="90170">
              <a:lnSpc>
                <a:spcPct val="119500"/>
              </a:lnSpc>
              <a:spcBef>
                <a:spcPts val="100"/>
              </a:spcBef>
            </a:pP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lang="en-US" sz="1200" i="1" spc="-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system</a:t>
            </a:r>
            <a:r>
              <a:rPr lang="en-US" sz="1200" i="1" spc="-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has</a:t>
            </a:r>
            <a:r>
              <a:rPr lang="en-US" sz="1200" i="1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four</a:t>
            </a:r>
            <a:r>
              <a:rPr lang="en-US" sz="1200" i="1" spc="-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layers:</a:t>
            </a:r>
            <a:r>
              <a:rPr lang="en-US" sz="1200" i="1" spc="-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r>
              <a:rPr lang="en-US" sz="1200" i="1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ingestion</a:t>
            </a:r>
            <a:r>
              <a:rPr lang="en-US" sz="1200" i="1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→</a:t>
            </a:r>
            <a:r>
              <a:rPr lang="en-US" sz="1200" i="1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spc="-10" dirty="0">
                <a:solidFill>
                  <a:srgbClr val="545454"/>
                </a:solidFill>
                <a:latin typeface="Arial"/>
                <a:cs typeface="Arial"/>
              </a:rPr>
              <a:t>Kronos-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based</a:t>
            </a:r>
            <a:r>
              <a:rPr lang="en-US" sz="12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spc="-10" dirty="0">
                <a:solidFill>
                  <a:srgbClr val="545454"/>
                </a:solidFill>
                <a:latin typeface="Arial"/>
                <a:cs typeface="Arial"/>
              </a:rPr>
              <a:t>modeling (direction-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head</a:t>
            </a:r>
            <a:r>
              <a:rPr lang="en-US" sz="1200" i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&amp;</a:t>
            </a:r>
            <a:r>
              <a:rPr lang="en-US" sz="1200" i="1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path</a:t>
            </a:r>
            <a:r>
              <a:rPr lang="en-US" sz="12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adapters)</a:t>
            </a:r>
            <a:r>
              <a:rPr lang="en-US" sz="1200" i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→</a:t>
            </a:r>
            <a:r>
              <a:rPr lang="en-US" sz="1200" i="1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Evaluation</a:t>
            </a:r>
            <a:r>
              <a:rPr lang="en-US" sz="1200" i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spc="-20" dirty="0">
                <a:solidFill>
                  <a:srgbClr val="545454"/>
                </a:solidFill>
                <a:latin typeface="Arial"/>
                <a:cs typeface="Arial"/>
              </a:rPr>
              <a:t>(accuracy,</a:t>
            </a:r>
            <a:r>
              <a:rPr lang="en-US" sz="1200" i="1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dirty="0" err="1">
                <a:solidFill>
                  <a:srgbClr val="545454"/>
                </a:solidFill>
                <a:latin typeface="Arial"/>
                <a:cs typeface="Arial"/>
              </a:rPr>
              <a:t>PnL</a:t>
            </a:r>
            <a:r>
              <a:rPr lang="en-US" sz="1200" i="1" dirty="0">
                <a:solidFill>
                  <a:srgbClr val="545454"/>
                </a:solidFill>
                <a:latin typeface="Arial"/>
                <a:cs typeface="Arial"/>
              </a:rPr>
              <a:t>)</a:t>
            </a:r>
            <a:r>
              <a:rPr lang="en-US" sz="1200" i="1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1200" i="1" spc="-50" dirty="0">
                <a:solidFill>
                  <a:srgbClr val="545454"/>
                </a:solidFill>
                <a:latin typeface="Arial"/>
                <a:cs typeface="Arial"/>
              </a:rPr>
              <a:t>→ Next.js + </a:t>
            </a:r>
            <a:r>
              <a:rPr lang="en-US" sz="1200" i="1" spc="-50" dirty="0" err="1">
                <a:solidFill>
                  <a:srgbClr val="545454"/>
                </a:solidFill>
                <a:latin typeface="Arial"/>
                <a:cs typeface="Arial"/>
              </a:rPr>
              <a:t>FastAPI</a:t>
            </a:r>
            <a:r>
              <a:rPr lang="en-US" sz="1200" i="1" spc="-50" dirty="0">
                <a:solidFill>
                  <a:srgbClr val="545454"/>
                </a:solidFill>
                <a:latin typeface="Arial"/>
                <a:cs typeface="Arial"/>
              </a:rPr>
              <a:t> deployment terminal with live Binance integration.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869815" algn="l"/>
              </a:tabLst>
            </a:pP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TECHNOLOGIES</a:t>
            </a:r>
            <a:r>
              <a:rPr sz="1600" b="1" u="sng" spc="-2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&amp;</a:t>
            </a:r>
            <a:r>
              <a:rPr sz="1600" b="1" u="sng" spc="-1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TOOLS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07" name="object 507"/>
          <p:cNvSpPr txBox="1"/>
          <p:nvPr/>
        </p:nvSpPr>
        <p:spPr>
          <a:xfrm>
            <a:off x="212516" y="11536631"/>
            <a:ext cx="1538605" cy="911225"/>
          </a:xfrm>
          <a:prstGeom prst="rect">
            <a:avLst/>
          </a:prstGeom>
          <a:solidFill>
            <a:srgbClr val="F4F5F7"/>
          </a:solidFill>
          <a:ln w="8433">
            <a:solidFill>
              <a:srgbClr val="D0D4DD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sz="1300" b="1" spc="-10" dirty="0">
                <a:solidFill>
                  <a:srgbClr val="1C2B4A"/>
                </a:solidFill>
                <a:latin typeface="Arial"/>
                <a:cs typeface="Arial"/>
              </a:rPr>
              <a:t>Kronos</a:t>
            </a:r>
            <a:endParaRPr sz="1300">
              <a:latin typeface="Arial"/>
              <a:cs typeface="Arial"/>
            </a:endParaRPr>
          </a:p>
          <a:p>
            <a:pPr marL="191135" marR="184150" algn="ctr">
              <a:lnSpc>
                <a:spcPct val="101200"/>
              </a:lnSpc>
              <a:spcBef>
                <a:spcPts val="775"/>
              </a:spcBef>
            </a:pPr>
            <a:r>
              <a:rPr sz="1050" dirty="0">
                <a:solidFill>
                  <a:srgbClr val="444444"/>
                </a:solidFill>
                <a:latin typeface="Arial MT"/>
                <a:cs typeface="Arial MT"/>
              </a:rPr>
              <a:t>Pretrained</a:t>
            </a:r>
            <a:r>
              <a:rPr sz="10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Arial MT"/>
                <a:cs typeface="Arial MT"/>
              </a:rPr>
              <a:t>financial </a:t>
            </a:r>
            <a:r>
              <a:rPr sz="1050" dirty="0">
                <a:solidFill>
                  <a:srgbClr val="444444"/>
                </a:solidFill>
                <a:latin typeface="Arial MT"/>
                <a:cs typeface="Arial MT"/>
              </a:rPr>
              <a:t>foundation </a:t>
            </a:r>
            <a:r>
              <a:rPr sz="1050" spc="-10" dirty="0">
                <a:solidFill>
                  <a:srgbClr val="444444"/>
                </a:solidFill>
                <a:latin typeface="Arial MT"/>
                <a:cs typeface="Arial MT"/>
              </a:rPr>
              <a:t>model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08" name="object 508"/>
          <p:cNvSpPr txBox="1"/>
          <p:nvPr/>
        </p:nvSpPr>
        <p:spPr>
          <a:xfrm>
            <a:off x="1823597" y="11536631"/>
            <a:ext cx="1538605" cy="911225"/>
          </a:xfrm>
          <a:prstGeom prst="rect">
            <a:avLst/>
          </a:prstGeom>
          <a:solidFill>
            <a:srgbClr val="F4F5F7"/>
          </a:solidFill>
          <a:ln w="8433">
            <a:solidFill>
              <a:srgbClr val="D0D4DD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sz="1300" b="1" spc="-10" dirty="0">
                <a:solidFill>
                  <a:srgbClr val="1C2B4A"/>
                </a:solidFill>
                <a:latin typeface="Arial"/>
                <a:cs typeface="Arial"/>
              </a:rPr>
              <a:t>PyTorch</a:t>
            </a:r>
            <a:endParaRPr sz="1300" dirty="0">
              <a:latin typeface="Arial"/>
              <a:cs typeface="Arial"/>
            </a:endParaRPr>
          </a:p>
          <a:p>
            <a:pPr marL="215265" marR="207645" indent="-1270" algn="ctr">
              <a:lnSpc>
                <a:spcPct val="101200"/>
              </a:lnSpc>
              <a:spcBef>
                <a:spcPts val="775"/>
              </a:spcBef>
            </a:pPr>
            <a:r>
              <a:rPr sz="1050" dirty="0">
                <a:solidFill>
                  <a:srgbClr val="444444"/>
                </a:solidFill>
                <a:latin typeface="Arial MT"/>
                <a:cs typeface="Arial MT"/>
              </a:rPr>
              <a:t>Deep</a:t>
            </a:r>
            <a:r>
              <a:rPr sz="105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Arial MT"/>
                <a:cs typeface="Arial MT"/>
              </a:rPr>
              <a:t>learning </a:t>
            </a:r>
            <a:r>
              <a:rPr sz="1050" dirty="0">
                <a:solidFill>
                  <a:srgbClr val="444444"/>
                </a:solidFill>
                <a:latin typeface="Arial MT"/>
                <a:cs typeface="Arial MT"/>
              </a:rPr>
              <a:t>training</a:t>
            </a:r>
            <a:r>
              <a:rPr sz="105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Arial MT"/>
                <a:cs typeface="Arial MT"/>
              </a:rPr>
              <a:t>framework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509" name="object 509"/>
          <p:cNvSpPr txBox="1"/>
          <p:nvPr/>
        </p:nvSpPr>
        <p:spPr>
          <a:xfrm>
            <a:off x="3434678" y="11536631"/>
            <a:ext cx="1538605" cy="802271"/>
          </a:xfrm>
          <a:prstGeom prst="rect">
            <a:avLst/>
          </a:prstGeom>
          <a:solidFill>
            <a:srgbClr val="F4F5F7"/>
          </a:solidFill>
          <a:ln w="8433">
            <a:solidFill>
              <a:srgbClr val="D0D4DD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lang="en-US" sz="1300" b="1" spc="-10" dirty="0" err="1">
                <a:solidFill>
                  <a:srgbClr val="1C2B4A"/>
                </a:solidFill>
                <a:latin typeface="Arial"/>
                <a:cs typeface="Arial"/>
              </a:rPr>
              <a:t>FastAPI</a:t>
            </a:r>
            <a:endParaRPr sz="1300" dirty="0">
              <a:latin typeface="Arial"/>
              <a:cs typeface="Arial"/>
            </a:endParaRPr>
          </a:p>
          <a:p>
            <a:pPr marL="323215" marR="315595" algn="ctr">
              <a:lnSpc>
                <a:spcPct val="101200"/>
              </a:lnSpc>
              <a:spcBef>
                <a:spcPts val="775"/>
              </a:spcBef>
            </a:pPr>
            <a:r>
              <a:rPr lang="en-US" sz="1050" dirty="0">
                <a:solidFill>
                  <a:srgbClr val="444444"/>
                </a:solidFill>
                <a:latin typeface="Arial MT"/>
                <a:cs typeface="Arial MT"/>
              </a:rPr>
              <a:t>web backend for inference</a:t>
            </a:r>
          </a:p>
        </p:txBody>
      </p:sp>
      <p:sp>
        <p:nvSpPr>
          <p:cNvPr id="510" name="object 510"/>
          <p:cNvSpPr txBox="1"/>
          <p:nvPr/>
        </p:nvSpPr>
        <p:spPr>
          <a:xfrm>
            <a:off x="212516" y="12520281"/>
            <a:ext cx="1538605" cy="965457"/>
          </a:xfrm>
          <a:prstGeom prst="rect">
            <a:avLst/>
          </a:prstGeom>
          <a:solidFill>
            <a:srgbClr val="F4F5F7"/>
          </a:solidFill>
          <a:ln w="8433">
            <a:solidFill>
              <a:srgbClr val="D0D4DD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dirty="0">
                <a:solidFill>
                  <a:srgbClr val="1C2B4A"/>
                </a:solidFill>
                <a:latin typeface="Arial"/>
                <a:cs typeface="Arial"/>
              </a:rPr>
              <a:t>Lightweight charts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Arial MT"/>
              </a:rPr>
              <a:t> </a:t>
            </a: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chart</a:t>
            </a:r>
            <a:endParaRPr lang="en-US" sz="1050" dirty="0"/>
          </a:p>
          <a:p>
            <a:pPr marL="421005" marR="413384" lvl="0" indent="0" algn="ctr" defTabSz="914400" eaLnBrk="1" fontAlgn="auto" latinLnBrk="0" hangingPunct="1">
              <a:lnSpc>
                <a:spcPct val="1012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50" dirty="0">
              <a:solidFill>
                <a:srgbClr val="444444"/>
              </a:solidFill>
              <a:latin typeface="Arial MT"/>
            </a:endParaRPr>
          </a:p>
        </p:txBody>
      </p:sp>
      <p:sp>
        <p:nvSpPr>
          <p:cNvPr id="511" name="object 511"/>
          <p:cNvSpPr txBox="1"/>
          <p:nvPr/>
        </p:nvSpPr>
        <p:spPr>
          <a:xfrm>
            <a:off x="1823597" y="12520281"/>
            <a:ext cx="1538605" cy="911225"/>
          </a:xfrm>
          <a:prstGeom prst="rect">
            <a:avLst/>
          </a:prstGeom>
          <a:solidFill>
            <a:srgbClr val="F4F5F7"/>
          </a:solidFill>
          <a:ln w="8433">
            <a:solidFill>
              <a:srgbClr val="D0D4DD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30"/>
              </a:spcBef>
            </a:pPr>
            <a:r>
              <a:rPr sz="1300" b="1" dirty="0">
                <a:solidFill>
                  <a:srgbClr val="1C2B4A"/>
                </a:solidFill>
                <a:latin typeface="Arial"/>
                <a:cs typeface="Arial"/>
              </a:rPr>
              <a:t>Binance </a:t>
            </a:r>
            <a:r>
              <a:rPr sz="1300" b="1" spc="-25" dirty="0">
                <a:solidFill>
                  <a:srgbClr val="1C2B4A"/>
                </a:solidFill>
                <a:latin typeface="Arial"/>
                <a:cs typeface="Arial"/>
              </a:rPr>
              <a:t>API</a:t>
            </a:r>
            <a:endParaRPr sz="1300" dirty="0">
              <a:latin typeface="Arial"/>
              <a:cs typeface="Arial"/>
            </a:endParaRPr>
          </a:p>
          <a:p>
            <a:pPr marL="421005" marR="413384" algn="ctr">
              <a:lnSpc>
                <a:spcPct val="101200"/>
              </a:lnSpc>
              <a:spcBef>
                <a:spcPts val="775"/>
              </a:spcBef>
            </a:pPr>
            <a:r>
              <a:rPr sz="1050" dirty="0">
                <a:solidFill>
                  <a:srgbClr val="444444"/>
                </a:solidFill>
                <a:latin typeface="Arial MT"/>
                <a:cs typeface="Arial MT"/>
              </a:rPr>
              <a:t>Live</a:t>
            </a:r>
            <a:r>
              <a:rPr sz="105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Arial MT"/>
                <a:cs typeface="Arial MT"/>
              </a:rPr>
              <a:t>trading integration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512" name="object 512"/>
          <p:cNvSpPr txBox="1"/>
          <p:nvPr/>
        </p:nvSpPr>
        <p:spPr>
          <a:xfrm>
            <a:off x="3434678" y="12520281"/>
            <a:ext cx="1538605" cy="911225"/>
          </a:xfrm>
          <a:prstGeom prst="rect">
            <a:avLst/>
          </a:prstGeom>
          <a:solidFill>
            <a:srgbClr val="F4F5F7"/>
          </a:solidFill>
          <a:ln w="8433">
            <a:solidFill>
              <a:srgbClr val="D0D4DD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sz="1300" b="1" spc="-10" dirty="0">
                <a:solidFill>
                  <a:srgbClr val="1C2B4A"/>
                </a:solidFill>
                <a:latin typeface="Arial"/>
                <a:cs typeface="Arial"/>
              </a:rPr>
              <a:t>Python</a:t>
            </a:r>
            <a:endParaRPr sz="1300">
              <a:latin typeface="Arial"/>
              <a:cs typeface="Arial"/>
            </a:endParaRPr>
          </a:p>
          <a:p>
            <a:pPr marL="318770" marR="310515" indent="-635" algn="ctr">
              <a:lnSpc>
                <a:spcPct val="101200"/>
              </a:lnSpc>
              <a:spcBef>
                <a:spcPts val="775"/>
              </a:spcBef>
            </a:pPr>
            <a:r>
              <a:rPr sz="1050" dirty="0">
                <a:solidFill>
                  <a:srgbClr val="444444"/>
                </a:solidFill>
                <a:latin typeface="Arial MT"/>
                <a:cs typeface="Arial MT"/>
              </a:rPr>
              <a:t>Core</a:t>
            </a:r>
            <a:r>
              <a:rPr sz="1050" spc="-10" dirty="0">
                <a:solidFill>
                  <a:srgbClr val="444444"/>
                </a:solidFill>
                <a:latin typeface="Arial MT"/>
                <a:cs typeface="Arial MT"/>
              </a:rPr>
              <a:t> language </a:t>
            </a:r>
            <a:r>
              <a:rPr sz="1050" dirty="0">
                <a:solidFill>
                  <a:srgbClr val="444444"/>
                </a:solidFill>
                <a:latin typeface="Arial MT"/>
                <a:cs typeface="Arial MT"/>
              </a:rPr>
              <a:t>for</a:t>
            </a:r>
            <a:r>
              <a:rPr sz="1050" spc="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444444"/>
                </a:solidFill>
                <a:latin typeface="Arial MT"/>
                <a:cs typeface="Arial MT"/>
              </a:rPr>
              <a:t>all</a:t>
            </a:r>
            <a:r>
              <a:rPr sz="1050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Arial MT"/>
                <a:cs typeface="Arial MT"/>
              </a:rPr>
              <a:t>pipelines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13" name="object 513"/>
          <p:cNvSpPr txBox="1"/>
          <p:nvPr/>
        </p:nvSpPr>
        <p:spPr>
          <a:xfrm>
            <a:off x="199816" y="13614272"/>
            <a:ext cx="488315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69815" algn="l"/>
              </a:tabLst>
            </a:pPr>
            <a:r>
              <a:rPr sz="1600" b="1" u="sng" spc="-2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COMPARISON</a:t>
            </a:r>
            <a:r>
              <a:rPr sz="1600" b="1" u="sng" spc="-5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WITH</a:t>
            </a:r>
            <a:r>
              <a:rPr sz="1600" b="1" u="sng" spc="-6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RELATED</a:t>
            </a:r>
            <a:r>
              <a:rPr sz="1600" b="1" u="sng" spc="-4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WORK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514" name="object 514"/>
          <p:cNvGrpSpPr/>
          <p:nvPr/>
        </p:nvGrpSpPr>
        <p:grpSpPr>
          <a:xfrm>
            <a:off x="209143" y="13955951"/>
            <a:ext cx="4864735" cy="784225"/>
            <a:chOff x="209143" y="13955951"/>
            <a:chExt cx="4864735" cy="784225"/>
          </a:xfrm>
        </p:grpSpPr>
        <p:sp>
          <p:nvSpPr>
            <p:cNvPr id="515" name="object 515"/>
            <p:cNvSpPr/>
            <p:nvPr/>
          </p:nvSpPr>
          <p:spPr>
            <a:xfrm>
              <a:off x="212516" y="13959324"/>
              <a:ext cx="4857750" cy="777240"/>
            </a:xfrm>
            <a:custGeom>
              <a:avLst/>
              <a:gdLst/>
              <a:ahLst/>
              <a:cxnLst/>
              <a:rect l="l" t="t" r="r" b="b"/>
              <a:pathLst>
                <a:path w="4857750" h="777240">
                  <a:moveTo>
                    <a:pt x="4857529" y="0"/>
                  </a:moveTo>
                  <a:lnTo>
                    <a:pt x="0" y="0"/>
                  </a:lnTo>
                  <a:lnTo>
                    <a:pt x="0" y="777204"/>
                  </a:lnTo>
                  <a:lnTo>
                    <a:pt x="4857529" y="777204"/>
                  </a:lnTo>
                  <a:lnTo>
                    <a:pt x="4857529" y="0"/>
                  </a:lnTo>
                  <a:close/>
                </a:path>
              </a:pathLst>
            </a:custGeom>
            <a:solidFill>
              <a:srgbClr val="F4F5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212516" y="13959324"/>
              <a:ext cx="4857750" cy="777240"/>
            </a:xfrm>
            <a:custGeom>
              <a:avLst/>
              <a:gdLst/>
              <a:ahLst/>
              <a:cxnLst/>
              <a:rect l="l" t="t" r="r" b="b"/>
              <a:pathLst>
                <a:path w="4857750" h="777240">
                  <a:moveTo>
                    <a:pt x="0" y="777204"/>
                  </a:moveTo>
                  <a:lnTo>
                    <a:pt x="4857529" y="777204"/>
                  </a:lnTo>
                  <a:lnTo>
                    <a:pt x="4857529" y="0"/>
                  </a:lnTo>
                  <a:lnTo>
                    <a:pt x="0" y="0"/>
                  </a:lnTo>
                  <a:lnTo>
                    <a:pt x="0" y="777204"/>
                  </a:lnTo>
                  <a:close/>
                </a:path>
              </a:pathLst>
            </a:custGeom>
            <a:ln w="6746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7" name="object 517"/>
          <p:cNvSpPr txBox="1"/>
          <p:nvPr/>
        </p:nvSpPr>
        <p:spPr>
          <a:xfrm>
            <a:off x="285379" y="14212355"/>
            <a:ext cx="5441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Kronos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8" name="object 518"/>
          <p:cNvSpPr txBox="1"/>
          <p:nvPr/>
        </p:nvSpPr>
        <p:spPr>
          <a:xfrm>
            <a:off x="1487787" y="14042949"/>
            <a:ext cx="3417570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16399"/>
              </a:lnSpc>
              <a:spcBef>
                <a:spcPts val="95"/>
              </a:spcBef>
            </a:pP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Financial</a:t>
            </a:r>
            <a:r>
              <a:rPr sz="105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foundation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model — used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as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backbone,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333333"/>
                </a:solidFill>
                <a:latin typeface="Arial MT"/>
                <a:cs typeface="Arial MT"/>
              </a:rPr>
              <a:t>we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study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adaptation</a:t>
            </a:r>
            <a:r>
              <a:rPr sz="10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across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horizons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rather</a:t>
            </a:r>
            <a:r>
              <a:rPr sz="105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than proposing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50" dirty="0">
                <a:solidFill>
                  <a:srgbClr val="333333"/>
                </a:solidFill>
                <a:latin typeface="Arial MT"/>
                <a:cs typeface="Arial MT"/>
              </a:rPr>
              <a:t>a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new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 model.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19" name="object 519"/>
          <p:cNvSpPr/>
          <p:nvPr/>
        </p:nvSpPr>
        <p:spPr>
          <a:xfrm>
            <a:off x="212516" y="14809392"/>
            <a:ext cx="4857750" cy="777240"/>
          </a:xfrm>
          <a:custGeom>
            <a:avLst/>
            <a:gdLst/>
            <a:ahLst/>
            <a:cxnLst/>
            <a:rect l="l" t="t" r="r" b="b"/>
            <a:pathLst>
              <a:path w="4857750" h="777240">
                <a:moveTo>
                  <a:pt x="0" y="777204"/>
                </a:moveTo>
                <a:lnTo>
                  <a:pt x="4857529" y="777204"/>
                </a:lnTo>
                <a:lnTo>
                  <a:pt x="4857529" y="0"/>
                </a:lnTo>
                <a:lnTo>
                  <a:pt x="0" y="0"/>
                </a:lnTo>
                <a:lnTo>
                  <a:pt x="0" y="777204"/>
                </a:lnTo>
                <a:close/>
              </a:path>
            </a:pathLst>
          </a:custGeom>
          <a:ln w="6746">
            <a:solidFill>
              <a:srgbClr val="D0D4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 txBox="1"/>
          <p:nvPr/>
        </p:nvSpPr>
        <p:spPr>
          <a:xfrm>
            <a:off x="285379" y="15062675"/>
            <a:ext cx="6375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Chronos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1" name="object 521"/>
          <p:cNvSpPr txBox="1"/>
          <p:nvPr/>
        </p:nvSpPr>
        <p:spPr>
          <a:xfrm>
            <a:off x="1487787" y="14893016"/>
            <a:ext cx="3403600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16399"/>
              </a:lnSpc>
              <a:spcBef>
                <a:spcPts val="95"/>
              </a:spcBef>
            </a:pP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General 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time-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series</a:t>
            </a:r>
            <a:r>
              <a:rPr sz="105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tokenization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—</a:t>
            </a:r>
            <a:r>
              <a:rPr sz="10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sz="10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narrow</a:t>
            </a:r>
            <a:r>
              <a:rPr sz="105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BTCUSDT</a:t>
            </a:r>
            <a:r>
              <a:rPr sz="105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finance</a:t>
            </a:r>
            <a:r>
              <a:rPr sz="10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and compare</a:t>
            </a:r>
            <a:r>
              <a:rPr sz="1050" spc="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interval-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specific 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transfer choices.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22" name="object 522"/>
          <p:cNvGrpSpPr/>
          <p:nvPr/>
        </p:nvGrpSpPr>
        <p:grpSpPr>
          <a:xfrm>
            <a:off x="209143" y="15656086"/>
            <a:ext cx="4864735" cy="784225"/>
            <a:chOff x="209143" y="15656086"/>
            <a:chExt cx="4864735" cy="784225"/>
          </a:xfrm>
        </p:grpSpPr>
        <p:sp>
          <p:nvSpPr>
            <p:cNvPr id="523" name="object 523"/>
            <p:cNvSpPr/>
            <p:nvPr/>
          </p:nvSpPr>
          <p:spPr>
            <a:xfrm>
              <a:off x="212516" y="15659459"/>
              <a:ext cx="4857750" cy="777240"/>
            </a:xfrm>
            <a:custGeom>
              <a:avLst/>
              <a:gdLst/>
              <a:ahLst/>
              <a:cxnLst/>
              <a:rect l="l" t="t" r="r" b="b"/>
              <a:pathLst>
                <a:path w="4857750" h="777240">
                  <a:moveTo>
                    <a:pt x="4857529" y="0"/>
                  </a:moveTo>
                  <a:lnTo>
                    <a:pt x="0" y="0"/>
                  </a:lnTo>
                  <a:lnTo>
                    <a:pt x="0" y="777204"/>
                  </a:lnTo>
                  <a:lnTo>
                    <a:pt x="4857529" y="777204"/>
                  </a:lnTo>
                  <a:lnTo>
                    <a:pt x="4857529" y="0"/>
                  </a:lnTo>
                  <a:close/>
                </a:path>
              </a:pathLst>
            </a:custGeom>
            <a:solidFill>
              <a:srgbClr val="F4F5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212516" y="15659459"/>
              <a:ext cx="4857750" cy="777240"/>
            </a:xfrm>
            <a:custGeom>
              <a:avLst/>
              <a:gdLst/>
              <a:ahLst/>
              <a:cxnLst/>
              <a:rect l="l" t="t" r="r" b="b"/>
              <a:pathLst>
                <a:path w="4857750" h="777240">
                  <a:moveTo>
                    <a:pt x="0" y="777204"/>
                  </a:moveTo>
                  <a:lnTo>
                    <a:pt x="4857529" y="777204"/>
                  </a:lnTo>
                  <a:lnTo>
                    <a:pt x="4857529" y="0"/>
                  </a:lnTo>
                  <a:lnTo>
                    <a:pt x="0" y="0"/>
                  </a:lnTo>
                  <a:lnTo>
                    <a:pt x="0" y="777204"/>
                  </a:lnTo>
                  <a:close/>
                </a:path>
              </a:pathLst>
            </a:custGeom>
            <a:ln w="6746">
              <a:solidFill>
                <a:srgbClr val="D0D4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5" name="object 525"/>
          <p:cNvSpPr txBox="1"/>
          <p:nvPr/>
        </p:nvSpPr>
        <p:spPr>
          <a:xfrm>
            <a:off x="285379" y="15912743"/>
            <a:ext cx="2921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00" b="1" spc="-25" dirty="0">
                <a:solidFill>
                  <a:srgbClr val="1C2B4A"/>
                </a:solidFill>
                <a:latin typeface="Arial"/>
                <a:cs typeface="Arial"/>
              </a:rPr>
              <a:t>TFT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6" name="object 526"/>
          <p:cNvSpPr txBox="1"/>
          <p:nvPr/>
        </p:nvSpPr>
        <p:spPr>
          <a:xfrm>
            <a:off x="1487787" y="15742632"/>
            <a:ext cx="3373120" cy="58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6399"/>
              </a:lnSpc>
              <a:spcBef>
                <a:spcPts val="100"/>
              </a:spcBef>
            </a:pP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Interpretable</a:t>
            </a:r>
            <a:r>
              <a:rPr sz="10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supervised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forecasting — we instead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333333"/>
                </a:solidFill>
                <a:latin typeface="Arial MT"/>
                <a:cs typeface="Arial MT"/>
              </a:rPr>
              <a:t>study 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pretrained-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model</a:t>
            </a:r>
            <a:r>
              <a:rPr sz="1050" spc="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adaptation</a:t>
            </a:r>
            <a:r>
              <a:rPr sz="10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050" spc="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horizon-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dependent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objective</a:t>
            </a:r>
            <a:r>
              <a:rPr sz="105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choice.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27" name="object 527"/>
          <p:cNvSpPr/>
          <p:nvPr/>
        </p:nvSpPr>
        <p:spPr>
          <a:xfrm>
            <a:off x="212516" y="16509528"/>
            <a:ext cx="4857750" cy="777240"/>
          </a:xfrm>
          <a:custGeom>
            <a:avLst/>
            <a:gdLst/>
            <a:ahLst/>
            <a:cxnLst/>
            <a:rect l="l" t="t" r="r" b="b"/>
            <a:pathLst>
              <a:path w="4857750" h="777240">
                <a:moveTo>
                  <a:pt x="0" y="777204"/>
                </a:moveTo>
                <a:lnTo>
                  <a:pt x="4857529" y="777204"/>
                </a:lnTo>
                <a:lnTo>
                  <a:pt x="4857529" y="0"/>
                </a:lnTo>
                <a:lnTo>
                  <a:pt x="0" y="0"/>
                </a:lnTo>
                <a:lnTo>
                  <a:pt x="0" y="777204"/>
                </a:lnTo>
                <a:close/>
              </a:path>
            </a:pathLst>
          </a:custGeom>
          <a:ln w="6746">
            <a:solidFill>
              <a:srgbClr val="D0D4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 txBox="1"/>
          <p:nvPr/>
        </p:nvSpPr>
        <p:spPr>
          <a:xfrm>
            <a:off x="285379" y="16675780"/>
            <a:ext cx="704215" cy="38608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>
              <a:lnSpc>
                <a:spcPts val="1400"/>
              </a:lnSpc>
              <a:spcBef>
                <a:spcPts val="175"/>
              </a:spcBef>
            </a:pPr>
            <a:r>
              <a:rPr sz="1200" b="1" dirty="0">
                <a:solidFill>
                  <a:srgbClr val="1C2B4A"/>
                </a:solidFill>
                <a:latin typeface="Arial"/>
                <a:cs typeface="Arial"/>
              </a:rPr>
              <a:t>Fischer</a:t>
            </a:r>
            <a:r>
              <a:rPr sz="1200" b="1" spc="-75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1C2B4A"/>
                </a:solidFill>
                <a:latin typeface="Arial"/>
                <a:cs typeface="Arial"/>
              </a:rPr>
              <a:t>&amp; </a:t>
            </a: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Krauss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9" name="object 529"/>
          <p:cNvSpPr txBox="1"/>
          <p:nvPr/>
        </p:nvSpPr>
        <p:spPr>
          <a:xfrm>
            <a:off x="1487787" y="16686508"/>
            <a:ext cx="3289935" cy="39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16399"/>
              </a:lnSpc>
              <a:spcBef>
                <a:spcPts val="95"/>
              </a:spcBef>
            </a:pP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LSTM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directional</a:t>
            </a:r>
            <a:r>
              <a:rPr sz="105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prediction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— we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extend</a:t>
            </a:r>
            <a:r>
              <a:rPr sz="10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0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crypto</a:t>
            </a:r>
            <a:r>
              <a:rPr sz="1050" spc="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333333"/>
                </a:solidFill>
                <a:latin typeface="Arial MT"/>
                <a:cs typeface="Arial MT"/>
              </a:rPr>
              <a:t>and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compare</a:t>
            </a:r>
            <a:r>
              <a:rPr sz="105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multiple</a:t>
            </a:r>
            <a:r>
              <a:rPr sz="105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horizon-specific</a:t>
            </a:r>
            <a:r>
              <a:rPr sz="105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transfer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 families.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199816" y="17500548"/>
            <a:ext cx="488315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69815" algn="l"/>
              </a:tabLst>
            </a:pP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FUTURE</a:t>
            </a:r>
            <a:r>
              <a:rPr sz="1600" b="1" u="sng" spc="-6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WORK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1" name="object 531"/>
          <p:cNvSpPr txBox="1"/>
          <p:nvPr/>
        </p:nvSpPr>
        <p:spPr>
          <a:xfrm>
            <a:off x="260536" y="17842194"/>
            <a:ext cx="452056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965">
              <a:lnSpc>
                <a:spcPct val="1214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News-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based prediction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branch —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integrate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sentiment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event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signals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alongside</a:t>
            </a:r>
            <a:r>
              <a:rPr sz="105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price-history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signals.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260536" y="18264193"/>
            <a:ext cx="4582795" cy="828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165735" indent="-227965">
              <a:lnSpc>
                <a:spcPct val="1214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Realistic</a:t>
            </a:r>
            <a:r>
              <a:rPr sz="105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trading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frictions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—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add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fees,</a:t>
            </a:r>
            <a:r>
              <a:rPr sz="105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slippage,</a:t>
            </a:r>
            <a:r>
              <a:rPr sz="105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spread,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latency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11111"/>
                </a:solidFill>
                <a:latin typeface="Arial MT"/>
                <a:cs typeface="Arial MT"/>
              </a:rPr>
              <a:t>to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evaluation.</a:t>
            </a:r>
            <a:endParaRPr sz="105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545"/>
              </a:spcBef>
              <a:buChar char="•"/>
              <a:tabLst>
                <a:tab pos="240029" algn="l"/>
              </a:tabLst>
            </a:pP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Multi-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asset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evaluation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— extend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the same protocol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beyond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BTCUSDT</a:t>
            </a:r>
            <a:r>
              <a:rPr sz="105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endParaRPr sz="1050" dirty="0">
              <a:latin typeface="Arial MT"/>
              <a:cs typeface="Arial MT"/>
            </a:endParaRPr>
          </a:p>
          <a:p>
            <a:pPr marL="240029">
              <a:lnSpc>
                <a:spcPct val="100000"/>
              </a:lnSpc>
              <a:spcBef>
                <a:spcPts val="270"/>
              </a:spcBef>
            </a:pP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other liquid</a:t>
            </a:r>
            <a:r>
              <a:rPr sz="105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crypto</a:t>
            </a:r>
            <a:r>
              <a:rPr sz="105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pairs.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5270285" y="1627524"/>
            <a:ext cx="8732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19185" algn="l"/>
              </a:tabLst>
            </a:pP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MODEL</a:t>
            </a:r>
            <a:r>
              <a:rPr sz="1600" b="1" u="sng" spc="-9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FAMILIES</a:t>
            </a:r>
            <a:r>
              <a:rPr sz="1600" b="1" u="sng" spc="-6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&amp;</a:t>
            </a:r>
            <a:r>
              <a:rPr sz="1600" b="1" u="sng" spc="-9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3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ADAPTATION</a:t>
            </a:r>
            <a:r>
              <a:rPr sz="1600" b="1" u="sng" spc="-3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STRATEGIES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34" name="object 534"/>
          <p:cNvGrpSpPr/>
          <p:nvPr/>
        </p:nvGrpSpPr>
        <p:grpSpPr>
          <a:xfrm>
            <a:off x="5273991" y="1964797"/>
            <a:ext cx="2879090" cy="1960245"/>
            <a:chOff x="5273991" y="1964797"/>
            <a:chExt cx="2879090" cy="1960245"/>
          </a:xfrm>
        </p:grpSpPr>
        <p:sp>
          <p:nvSpPr>
            <p:cNvPr id="535" name="object 535"/>
            <p:cNvSpPr/>
            <p:nvPr/>
          </p:nvSpPr>
          <p:spPr>
            <a:xfrm>
              <a:off x="5282563" y="2106952"/>
              <a:ext cx="2861945" cy="1809750"/>
            </a:xfrm>
            <a:custGeom>
              <a:avLst/>
              <a:gdLst/>
              <a:ahLst/>
              <a:cxnLst/>
              <a:rect l="l" t="t" r="r" b="b"/>
              <a:pathLst>
                <a:path w="2861945" h="1809750">
                  <a:moveTo>
                    <a:pt x="0" y="1809429"/>
                  </a:moveTo>
                  <a:lnTo>
                    <a:pt x="2861894" y="1809429"/>
                  </a:lnTo>
                  <a:lnTo>
                    <a:pt x="2861894" y="0"/>
                  </a:lnTo>
                  <a:lnTo>
                    <a:pt x="0" y="0"/>
                  </a:lnTo>
                  <a:lnTo>
                    <a:pt x="0" y="1809429"/>
                  </a:lnTo>
                  <a:close/>
                </a:path>
              </a:pathLst>
            </a:custGeom>
            <a:solidFill>
              <a:srgbClr val="F4F5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5282563" y="1973370"/>
              <a:ext cx="2861945" cy="1943100"/>
            </a:xfrm>
            <a:custGeom>
              <a:avLst/>
              <a:gdLst/>
              <a:ahLst/>
              <a:cxnLst/>
              <a:rect l="l" t="t" r="r" b="b"/>
              <a:pathLst>
                <a:path w="2861945" h="1943100">
                  <a:moveTo>
                    <a:pt x="0" y="1943011"/>
                  </a:moveTo>
                  <a:lnTo>
                    <a:pt x="2861894" y="1943011"/>
                  </a:lnTo>
                  <a:lnTo>
                    <a:pt x="2861894" y="0"/>
                  </a:lnTo>
                  <a:lnTo>
                    <a:pt x="0" y="0"/>
                  </a:lnTo>
                  <a:lnTo>
                    <a:pt x="0" y="1943011"/>
                  </a:lnTo>
                  <a:close/>
                </a:path>
              </a:pathLst>
            </a:custGeom>
            <a:ln w="16866">
              <a:solidFill>
                <a:srgbClr val="0D6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5282563" y="1973370"/>
              <a:ext cx="2861945" cy="133985"/>
            </a:xfrm>
            <a:custGeom>
              <a:avLst/>
              <a:gdLst/>
              <a:ahLst/>
              <a:cxnLst/>
              <a:rect l="l" t="t" r="r" b="b"/>
              <a:pathLst>
                <a:path w="2861945" h="133985">
                  <a:moveTo>
                    <a:pt x="2861894" y="0"/>
                  </a:moveTo>
                  <a:lnTo>
                    <a:pt x="0" y="0"/>
                  </a:lnTo>
                  <a:lnTo>
                    <a:pt x="0" y="133582"/>
                  </a:lnTo>
                  <a:lnTo>
                    <a:pt x="2861894" y="133582"/>
                  </a:lnTo>
                  <a:lnTo>
                    <a:pt x="2861894" y="0"/>
                  </a:lnTo>
                  <a:close/>
                </a:path>
              </a:pathLst>
            </a:custGeom>
            <a:solidFill>
              <a:srgbClr val="0D6D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5282563" y="1973370"/>
              <a:ext cx="2861945" cy="133985"/>
            </a:xfrm>
            <a:custGeom>
              <a:avLst/>
              <a:gdLst/>
              <a:ahLst/>
              <a:cxnLst/>
              <a:rect l="l" t="t" r="r" b="b"/>
              <a:pathLst>
                <a:path w="2861945" h="133985">
                  <a:moveTo>
                    <a:pt x="0" y="133582"/>
                  </a:moveTo>
                  <a:lnTo>
                    <a:pt x="2861894" y="133582"/>
                  </a:lnTo>
                  <a:lnTo>
                    <a:pt x="2861894" y="0"/>
                  </a:lnTo>
                  <a:lnTo>
                    <a:pt x="0" y="0"/>
                  </a:lnTo>
                  <a:lnTo>
                    <a:pt x="0" y="133582"/>
                  </a:lnTo>
                  <a:close/>
                </a:path>
              </a:pathLst>
            </a:custGeom>
            <a:ln w="8433">
              <a:solidFill>
                <a:srgbClr val="0D6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9" name="object 539"/>
          <p:cNvSpPr txBox="1"/>
          <p:nvPr/>
        </p:nvSpPr>
        <p:spPr>
          <a:xfrm>
            <a:off x="5343704" y="2145020"/>
            <a:ext cx="24917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1C2B4A"/>
                </a:solidFill>
                <a:latin typeface="Arial"/>
                <a:cs typeface="Arial"/>
              </a:rPr>
              <a:t>Native</a:t>
            </a:r>
            <a:r>
              <a:rPr sz="1200" b="1" spc="5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Direction-</a:t>
            </a:r>
            <a:r>
              <a:rPr sz="1200" b="1" dirty="0">
                <a:solidFill>
                  <a:srgbClr val="1C2B4A"/>
                </a:solidFill>
                <a:latin typeface="Arial"/>
                <a:cs typeface="Arial"/>
              </a:rPr>
              <a:t>Head</a:t>
            </a:r>
            <a:r>
              <a:rPr sz="1200" b="1" spc="-25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Fine-Tuning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5343704" y="2604462"/>
            <a:ext cx="2442210" cy="111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95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Attaches</a:t>
            </a:r>
            <a:r>
              <a:rPr sz="12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2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lightweight</a:t>
            </a:r>
            <a:r>
              <a:rPr sz="12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classifier</a:t>
            </a:r>
            <a:r>
              <a:rPr sz="12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2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333333"/>
                </a:solidFill>
                <a:latin typeface="Arial MT"/>
                <a:cs typeface="Arial MT"/>
              </a:rPr>
              <a:t>a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frozen</a:t>
            </a:r>
            <a:r>
              <a:rPr sz="12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Kronos</a:t>
            </a:r>
            <a:r>
              <a:rPr sz="12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backbone.</a:t>
            </a:r>
            <a:r>
              <a:rPr sz="12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Best</a:t>
            </a:r>
            <a:r>
              <a:rPr sz="12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12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Arial MT"/>
                <a:cs typeface="Arial MT"/>
              </a:rPr>
              <a:t>5-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minute</a:t>
            </a:r>
            <a:r>
              <a:rPr sz="12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direct</a:t>
            </a:r>
            <a:r>
              <a:rPr sz="1200" spc="-20" dirty="0">
                <a:solidFill>
                  <a:srgbClr val="333333"/>
                </a:solidFill>
                <a:latin typeface="Arial MT"/>
                <a:cs typeface="Arial MT"/>
              </a:rPr>
              <a:t> same-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interval classification.</a:t>
            </a:r>
            <a:r>
              <a:rPr sz="12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Only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691K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12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Arial MT"/>
                <a:cs typeface="Arial MT"/>
              </a:rPr>
              <a:t>103M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parameters</a:t>
            </a:r>
            <a:r>
              <a:rPr sz="1200" spc="-8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trainable.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41" name="object 541"/>
          <p:cNvGrpSpPr/>
          <p:nvPr/>
        </p:nvGrpSpPr>
        <p:grpSpPr>
          <a:xfrm>
            <a:off x="8196605" y="1964797"/>
            <a:ext cx="2879090" cy="1960245"/>
            <a:chOff x="8196605" y="1964797"/>
            <a:chExt cx="2879090" cy="1960245"/>
          </a:xfrm>
        </p:grpSpPr>
        <p:sp>
          <p:nvSpPr>
            <p:cNvPr id="542" name="object 542"/>
            <p:cNvSpPr/>
            <p:nvPr/>
          </p:nvSpPr>
          <p:spPr>
            <a:xfrm>
              <a:off x="8205177" y="1973370"/>
              <a:ext cx="2861945" cy="1943100"/>
            </a:xfrm>
            <a:custGeom>
              <a:avLst/>
              <a:gdLst/>
              <a:ahLst/>
              <a:cxnLst/>
              <a:rect l="l" t="t" r="r" b="b"/>
              <a:pathLst>
                <a:path w="2861945" h="1943100">
                  <a:moveTo>
                    <a:pt x="0" y="1943011"/>
                  </a:moveTo>
                  <a:lnTo>
                    <a:pt x="2861894" y="1943011"/>
                  </a:lnTo>
                  <a:lnTo>
                    <a:pt x="2861894" y="0"/>
                  </a:lnTo>
                  <a:lnTo>
                    <a:pt x="0" y="0"/>
                  </a:lnTo>
                  <a:lnTo>
                    <a:pt x="0" y="1943011"/>
                  </a:lnTo>
                  <a:close/>
                </a:path>
              </a:pathLst>
            </a:custGeom>
            <a:ln w="16866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8205177" y="1973370"/>
              <a:ext cx="2861945" cy="133985"/>
            </a:xfrm>
            <a:custGeom>
              <a:avLst/>
              <a:gdLst/>
              <a:ahLst/>
              <a:cxnLst/>
              <a:rect l="l" t="t" r="r" b="b"/>
              <a:pathLst>
                <a:path w="2861945" h="133985">
                  <a:moveTo>
                    <a:pt x="2861894" y="0"/>
                  </a:moveTo>
                  <a:lnTo>
                    <a:pt x="0" y="0"/>
                  </a:lnTo>
                  <a:lnTo>
                    <a:pt x="0" y="133582"/>
                  </a:lnTo>
                  <a:lnTo>
                    <a:pt x="2861894" y="133582"/>
                  </a:lnTo>
                  <a:lnTo>
                    <a:pt x="286189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8205177" y="1973370"/>
              <a:ext cx="2861945" cy="133985"/>
            </a:xfrm>
            <a:custGeom>
              <a:avLst/>
              <a:gdLst/>
              <a:ahLst/>
              <a:cxnLst/>
              <a:rect l="l" t="t" r="r" b="b"/>
              <a:pathLst>
                <a:path w="2861945" h="133985">
                  <a:moveTo>
                    <a:pt x="0" y="133582"/>
                  </a:moveTo>
                  <a:lnTo>
                    <a:pt x="2861894" y="133582"/>
                  </a:lnTo>
                  <a:lnTo>
                    <a:pt x="2861894" y="0"/>
                  </a:lnTo>
                  <a:lnTo>
                    <a:pt x="0" y="0"/>
                  </a:lnTo>
                  <a:lnTo>
                    <a:pt x="0" y="133582"/>
                  </a:lnTo>
                  <a:close/>
                </a:path>
              </a:pathLst>
            </a:custGeom>
            <a:ln w="8433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5" name="object 545"/>
          <p:cNvSpPr txBox="1"/>
          <p:nvPr/>
        </p:nvSpPr>
        <p:spPr>
          <a:xfrm>
            <a:off x="8205177" y="2106952"/>
            <a:ext cx="2861945" cy="1809750"/>
          </a:xfrm>
          <a:prstGeom prst="rect">
            <a:avLst/>
          </a:prstGeom>
          <a:solidFill>
            <a:srgbClr val="F4F5F7"/>
          </a:solidFill>
        </p:spPr>
        <p:txBody>
          <a:bodyPr vert="horz" wrap="square" lIns="0" tIns="53975" rIns="0" bIns="0" rtlCol="0">
            <a:spAutoFit/>
          </a:bodyPr>
          <a:lstStyle/>
          <a:p>
            <a:pPr marL="60960" marR="111760">
              <a:lnSpc>
                <a:spcPts val="1400"/>
              </a:lnSpc>
              <a:spcBef>
                <a:spcPts val="425"/>
              </a:spcBef>
            </a:pPr>
            <a:r>
              <a:rPr sz="1200" b="1" dirty="0">
                <a:solidFill>
                  <a:srgbClr val="1C2B4A"/>
                </a:solidFill>
                <a:latin typeface="Arial"/>
                <a:cs typeface="Arial"/>
              </a:rPr>
              <a:t>Pruned</a:t>
            </a:r>
            <a:r>
              <a:rPr sz="1200" b="1" spc="-40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Direction-</a:t>
            </a:r>
            <a:r>
              <a:rPr sz="1200" b="1" dirty="0">
                <a:solidFill>
                  <a:srgbClr val="1C2B4A"/>
                </a:solidFill>
                <a:latin typeface="Arial"/>
                <a:cs typeface="Arial"/>
              </a:rPr>
              <a:t>Head</a:t>
            </a:r>
            <a:r>
              <a:rPr sz="1200" b="1" spc="-25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Transfer</a:t>
            </a:r>
            <a:r>
              <a:rPr sz="1200" b="1" spc="-40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1C2B4A"/>
                </a:solidFill>
                <a:latin typeface="Arial"/>
                <a:cs typeface="Arial"/>
              </a:rPr>
              <a:t>(50% </a:t>
            </a: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Sparsity)</a:t>
            </a:r>
            <a:endParaRPr sz="1200">
              <a:latin typeface="Arial"/>
              <a:cs typeface="Arial"/>
            </a:endParaRPr>
          </a:p>
          <a:p>
            <a:pPr marL="60960" marR="69850">
              <a:lnSpc>
                <a:spcPct val="119500"/>
              </a:lnSpc>
              <a:spcBef>
                <a:spcPts val="790"/>
              </a:spcBef>
            </a:pP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Applies</a:t>
            </a:r>
            <a:r>
              <a:rPr sz="12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global</a:t>
            </a:r>
            <a:r>
              <a:rPr sz="12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magnitude</a:t>
            </a:r>
            <a:r>
              <a:rPr sz="12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pruning</a:t>
            </a:r>
            <a:r>
              <a:rPr sz="12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200" spc="-50" dirty="0">
                <a:solidFill>
                  <a:srgbClr val="333333"/>
                </a:solidFill>
                <a:latin typeface="Arial MT"/>
                <a:cs typeface="Arial MT"/>
              </a:rPr>
              <a:t> a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direction-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head</a:t>
            </a:r>
            <a:r>
              <a:rPr sz="1200" spc="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checkpoint.</a:t>
            </a:r>
            <a:r>
              <a:rPr sz="120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Moderate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pruning</a:t>
            </a:r>
            <a:r>
              <a:rPr sz="12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acts</a:t>
            </a:r>
            <a:r>
              <a:rPr sz="12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as</a:t>
            </a:r>
            <a:r>
              <a:rPr sz="12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regularization,</a:t>
            </a:r>
            <a:r>
              <a:rPr sz="12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improving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generalization</a:t>
            </a:r>
            <a:r>
              <a:rPr sz="12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during</a:t>
            </a:r>
            <a:r>
              <a:rPr sz="120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interval</a:t>
            </a:r>
            <a:r>
              <a:rPr sz="12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transfer.</a:t>
            </a:r>
            <a:endParaRPr sz="1200">
              <a:latin typeface="Arial MT"/>
              <a:cs typeface="Arial MT"/>
            </a:endParaRPr>
          </a:p>
          <a:p>
            <a:pPr marL="60960">
              <a:lnSpc>
                <a:spcPct val="100000"/>
              </a:lnSpc>
              <a:spcBef>
                <a:spcPts val="284"/>
              </a:spcBef>
            </a:pP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Best</a:t>
            </a:r>
            <a:r>
              <a:rPr sz="12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1-</a:t>
            </a:r>
            <a:r>
              <a:rPr sz="1200" spc="-20" dirty="0">
                <a:solidFill>
                  <a:srgbClr val="333333"/>
                </a:solidFill>
                <a:latin typeface="Arial MT"/>
                <a:cs typeface="Arial MT"/>
              </a:rPr>
              <a:t>hour.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46" name="object 546"/>
          <p:cNvGrpSpPr/>
          <p:nvPr/>
        </p:nvGrpSpPr>
        <p:grpSpPr>
          <a:xfrm>
            <a:off x="11119357" y="1964936"/>
            <a:ext cx="2879090" cy="1960245"/>
            <a:chOff x="11119357" y="1964936"/>
            <a:chExt cx="2879090" cy="1960245"/>
          </a:xfrm>
        </p:grpSpPr>
        <p:sp>
          <p:nvSpPr>
            <p:cNvPr id="547" name="object 547"/>
            <p:cNvSpPr/>
            <p:nvPr/>
          </p:nvSpPr>
          <p:spPr>
            <a:xfrm>
              <a:off x="11127790" y="1973370"/>
              <a:ext cx="2861945" cy="1943100"/>
            </a:xfrm>
            <a:custGeom>
              <a:avLst/>
              <a:gdLst/>
              <a:ahLst/>
              <a:cxnLst/>
              <a:rect l="l" t="t" r="r" b="b"/>
              <a:pathLst>
                <a:path w="2861944" h="1943100">
                  <a:moveTo>
                    <a:pt x="0" y="1943011"/>
                  </a:moveTo>
                  <a:lnTo>
                    <a:pt x="2861894" y="1943011"/>
                  </a:lnTo>
                  <a:lnTo>
                    <a:pt x="2861894" y="0"/>
                  </a:lnTo>
                  <a:lnTo>
                    <a:pt x="0" y="0"/>
                  </a:lnTo>
                  <a:lnTo>
                    <a:pt x="0" y="1943011"/>
                  </a:lnTo>
                  <a:close/>
                </a:path>
              </a:pathLst>
            </a:custGeom>
            <a:ln w="16866">
              <a:solidFill>
                <a:srgbClr val="C87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11127790" y="1973370"/>
              <a:ext cx="2861945" cy="133985"/>
            </a:xfrm>
            <a:custGeom>
              <a:avLst/>
              <a:gdLst/>
              <a:ahLst/>
              <a:cxnLst/>
              <a:rect l="l" t="t" r="r" b="b"/>
              <a:pathLst>
                <a:path w="2861944" h="133985">
                  <a:moveTo>
                    <a:pt x="2861894" y="0"/>
                  </a:moveTo>
                  <a:lnTo>
                    <a:pt x="0" y="0"/>
                  </a:lnTo>
                  <a:lnTo>
                    <a:pt x="0" y="133582"/>
                  </a:lnTo>
                  <a:lnTo>
                    <a:pt x="2861894" y="133582"/>
                  </a:lnTo>
                  <a:lnTo>
                    <a:pt x="2861894" y="0"/>
                  </a:lnTo>
                  <a:close/>
                </a:path>
              </a:pathLst>
            </a:custGeom>
            <a:solidFill>
              <a:srgbClr val="C87A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11127790" y="1973370"/>
              <a:ext cx="2861945" cy="133985"/>
            </a:xfrm>
            <a:custGeom>
              <a:avLst/>
              <a:gdLst/>
              <a:ahLst/>
              <a:cxnLst/>
              <a:rect l="l" t="t" r="r" b="b"/>
              <a:pathLst>
                <a:path w="2861944" h="133985">
                  <a:moveTo>
                    <a:pt x="0" y="133582"/>
                  </a:moveTo>
                  <a:lnTo>
                    <a:pt x="2861894" y="133582"/>
                  </a:lnTo>
                  <a:lnTo>
                    <a:pt x="2861894" y="0"/>
                  </a:lnTo>
                  <a:lnTo>
                    <a:pt x="0" y="0"/>
                  </a:lnTo>
                  <a:lnTo>
                    <a:pt x="0" y="133582"/>
                  </a:lnTo>
                  <a:close/>
                </a:path>
              </a:pathLst>
            </a:custGeom>
            <a:ln w="8433">
              <a:solidFill>
                <a:srgbClr val="C87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0" name="object 550"/>
          <p:cNvSpPr txBox="1"/>
          <p:nvPr/>
        </p:nvSpPr>
        <p:spPr>
          <a:xfrm>
            <a:off x="11127791" y="2106952"/>
            <a:ext cx="2861945" cy="1809750"/>
          </a:xfrm>
          <a:prstGeom prst="rect">
            <a:avLst/>
          </a:prstGeom>
          <a:solidFill>
            <a:srgbClr val="F4F5F7"/>
          </a:solidFill>
        </p:spPr>
        <p:txBody>
          <a:bodyPr vert="horz" wrap="square" lIns="0" tIns="57150" rIns="0" bIns="0" rtlCol="0">
            <a:spAutoFit/>
          </a:bodyPr>
          <a:lstStyle/>
          <a:p>
            <a:pPr marL="91440" marR="344170">
              <a:lnSpc>
                <a:spcPts val="1400"/>
              </a:lnSpc>
              <a:spcBef>
                <a:spcPts val="450"/>
              </a:spcBef>
            </a:pPr>
            <a:r>
              <a:rPr sz="1200" b="1" spc="-20" dirty="0">
                <a:solidFill>
                  <a:srgbClr val="1C2B4A"/>
                </a:solidFill>
                <a:latin typeface="Arial"/>
                <a:cs typeface="Arial"/>
              </a:rPr>
              <a:t>Consecutive-</a:t>
            </a:r>
            <a:r>
              <a:rPr sz="1200" b="1" dirty="0">
                <a:solidFill>
                  <a:srgbClr val="1C2B4A"/>
                </a:solidFill>
                <a:latin typeface="Arial"/>
                <a:cs typeface="Arial"/>
              </a:rPr>
              <a:t>Path</a:t>
            </a:r>
            <a:r>
              <a:rPr sz="1200" b="1" spc="45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C2B4A"/>
                </a:solidFill>
                <a:latin typeface="Arial"/>
                <a:cs typeface="Arial"/>
              </a:rPr>
              <a:t>Autoregressive Adapter</a:t>
            </a:r>
            <a:endParaRPr sz="1200">
              <a:latin typeface="Arial"/>
              <a:cs typeface="Arial"/>
            </a:endParaRPr>
          </a:p>
          <a:p>
            <a:pPr marL="60960" marR="78105">
              <a:lnSpc>
                <a:spcPct val="119500"/>
              </a:lnSpc>
              <a:spcBef>
                <a:spcPts val="765"/>
              </a:spcBef>
            </a:pP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Predicts</a:t>
            </a:r>
            <a:r>
              <a:rPr sz="12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structured</a:t>
            </a:r>
            <a:r>
              <a:rPr sz="12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multi-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step</a:t>
            </a:r>
            <a:r>
              <a:rPr sz="12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future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paths</a:t>
            </a:r>
            <a:r>
              <a:rPr sz="12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rather</a:t>
            </a:r>
            <a:r>
              <a:rPr sz="12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than</a:t>
            </a:r>
            <a:r>
              <a:rPr sz="12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2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single</a:t>
            </a:r>
            <a:r>
              <a:rPr sz="12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next-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bar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 label.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Last</a:t>
            </a:r>
            <a:r>
              <a:rPr sz="12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6</a:t>
            </a:r>
            <a:r>
              <a:rPr sz="12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transformer</a:t>
            </a:r>
            <a:r>
              <a:rPr sz="12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layers</a:t>
            </a:r>
            <a:r>
              <a:rPr sz="12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unfrozen</a:t>
            </a:r>
            <a:r>
              <a:rPr sz="12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Arial MT"/>
                <a:cs typeface="Arial MT"/>
              </a:rPr>
              <a:t>for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path-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consistent</a:t>
            </a:r>
            <a:r>
              <a:rPr sz="12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1-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day</a:t>
            </a:r>
            <a:r>
              <a:rPr sz="12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forecasting</a:t>
            </a:r>
            <a:r>
              <a:rPr sz="600" spc="-1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51" name="object 551"/>
          <p:cNvSpPr txBox="1"/>
          <p:nvPr/>
        </p:nvSpPr>
        <p:spPr>
          <a:xfrm>
            <a:off x="5270285" y="4026301"/>
            <a:ext cx="8732520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719185" algn="l"/>
              </a:tabLst>
            </a:pPr>
            <a:r>
              <a:rPr sz="1600" b="1" u="sng" spc="-3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DATASET</a:t>
            </a:r>
            <a:r>
              <a:rPr sz="1600" b="1" u="sng" spc="-5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&amp;</a:t>
            </a:r>
            <a:r>
              <a:rPr sz="1600" b="1" u="sng" spc="-6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TRAINING</a:t>
            </a:r>
            <a:r>
              <a:rPr sz="1600" b="1" u="sng" spc="-6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PIPELINE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  <a:p>
            <a:pPr marL="73025">
              <a:lnSpc>
                <a:spcPct val="100000"/>
              </a:lnSpc>
              <a:spcBef>
                <a:spcPts val="1055"/>
              </a:spcBef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BTCUSDT</a:t>
            </a:r>
            <a:r>
              <a:rPr sz="1400" b="1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OHLCV</a:t>
            </a:r>
            <a:r>
              <a:rPr sz="1400" b="1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r>
              <a:rPr sz="1400" b="1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across</a:t>
            </a:r>
            <a:r>
              <a:rPr sz="1400" b="1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three</a:t>
            </a:r>
            <a:r>
              <a:rPr sz="1400" b="1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resolutions: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5331004" y="4616288"/>
            <a:ext cx="8378825" cy="10458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Char char="•"/>
              <a:tabLst>
                <a:tab pos="240029" algn="l"/>
              </a:tabLst>
            </a:pP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5-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minute:</a:t>
            </a:r>
            <a:r>
              <a:rPr sz="14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2018–2025,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512-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bar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lookback,</a:t>
            </a:r>
            <a:r>
              <a:rPr sz="14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batch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64,</a:t>
            </a:r>
            <a:r>
              <a:rPr sz="14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LR</a:t>
            </a:r>
            <a:r>
              <a:rPr sz="14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50" dirty="0">
                <a:solidFill>
                  <a:srgbClr val="111111"/>
                </a:solidFill>
                <a:latin typeface="Arial MT"/>
                <a:cs typeface="Arial MT"/>
              </a:rPr>
              <a:t>5×10</a:t>
            </a:r>
            <a:r>
              <a:rPr sz="1400" spc="-150" dirty="0">
                <a:solidFill>
                  <a:srgbClr val="111111"/>
                </a:solidFill>
                <a:latin typeface="Cambria Math"/>
                <a:cs typeface="Cambria Math"/>
              </a:rPr>
              <a:t>⁻</a:t>
            </a:r>
            <a:r>
              <a:rPr sz="1400" spc="-150" dirty="0">
                <a:solidFill>
                  <a:srgbClr val="111111"/>
                </a:solidFill>
                <a:latin typeface="Arial MT"/>
                <a:cs typeface="Arial MT"/>
              </a:rPr>
              <a:t>⁴,</a:t>
            </a:r>
            <a:r>
              <a:rPr sz="140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10</a:t>
            </a:r>
            <a:r>
              <a:rPr sz="14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epochs,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cross-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entropy</a:t>
            </a:r>
            <a:r>
              <a:rPr sz="14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directional</a:t>
            </a:r>
            <a:r>
              <a:rPr sz="14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loss</a:t>
            </a:r>
            <a:endParaRPr sz="1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325"/>
              </a:spcBef>
              <a:buChar char="•"/>
              <a:tabLst>
                <a:tab pos="240029" algn="l"/>
              </a:tabLst>
            </a:pP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1-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hour:</a:t>
            </a:r>
            <a:r>
              <a:rPr sz="14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Pruned</a:t>
            </a:r>
            <a:r>
              <a:rPr sz="14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from</a:t>
            </a:r>
            <a:r>
              <a:rPr sz="14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5-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min</a:t>
            </a:r>
            <a:r>
              <a:rPr sz="14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direction-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head</a:t>
            </a:r>
            <a:r>
              <a:rPr sz="14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via</a:t>
            </a:r>
            <a:r>
              <a:rPr sz="14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global</a:t>
            </a:r>
            <a:r>
              <a:rPr sz="14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magnitude</a:t>
            </a:r>
            <a:r>
              <a:rPr sz="14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sparsity</a:t>
            </a:r>
            <a:r>
              <a:rPr sz="14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sweep</a:t>
            </a:r>
            <a:r>
              <a:rPr sz="14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(25%/50%/75%)</a:t>
            </a:r>
            <a:endParaRPr sz="1400">
              <a:latin typeface="Arial MT"/>
              <a:cs typeface="Arial MT"/>
            </a:endParaRPr>
          </a:p>
          <a:p>
            <a:pPr marL="240029" marR="5080" indent="-227965">
              <a:lnSpc>
                <a:spcPct val="119500"/>
              </a:lnSpc>
              <a:buChar char="•"/>
              <a:tabLst>
                <a:tab pos="240029" algn="l"/>
              </a:tabLst>
            </a:pP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1-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day:</a:t>
            </a:r>
            <a:r>
              <a:rPr sz="14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1-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minute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2017–2024,</a:t>
            </a:r>
            <a:r>
              <a:rPr sz="14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256-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step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lookback,</a:t>
            </a:r>
            <a:r>
              <a:rPr sz="14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16-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step</a:t>
            </a:r>
            <a:r>
              <a:rPr sz="14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horizon,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LR</a:t>
            </a:r>
            <a:r>
              <a:rPr sz="14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50" dirty="0">
                <a:solidFill>
                  <a:srgbClr val="111111"/>
                </a:solidFill>
                <a:latin typeface="Arial MT"/>
                <a:cs typeface="Arial MT"/>
              </a:rPr>
              <a:t>3×10</a:t>
            </a:r>
            <a:r>
              <a:rPr sz="1400" spc="-150" dirty="0">
                <a:solidFill>
                  <a:srgbClr val="111111"/>
                </a:solidFill>
                <a:latin typeface="Cambria Math"/>
                <a:cs typeface="Cambria Math"/>
              </a:rPr>
              <a:t>⁻</a:t>
            </a:r>
            <a:r>
              <a:rPr sz="1400" spc="-150" dirty="0">
                <a:solidFill>
                  <a:srgbClr val="111111"/>
                </a:solidFill>
                <a:latin typeface="Arial MT"/>
                <a:cs typeface="Arial MT"/>
              </a:rPr>
              <a:t>⁶,</a:t>
            </a:r>
            <a:r>
              <a:rPr sz="140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consecutive-path-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only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loss,</a:t>
            </a:r>
            <a:r>
              <a:rPr sz="14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last</a:t>
            </a:r>
            <a:r>
              <a:rPr sz="14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6</a:t>
            </a:r>
            <a:r>
              <a:rPr sz="14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layers</a:t>
            </a:r>
            <a:r>
              <a:rPr sz="14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unfrozen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53" name="object 553"/>
          <p:cNvSpPr txBox="1"/>
          <p:nvPr/>
        </p:nvSpPr>
        <p:spPr>
          <a:xfrm>
            <a:off x="5270285" y="5878032"/>
            <a:ext cx="8732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19185" algn="l"/>
              </a:tabLst>
            </a:pP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RESULTS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554" name="object 554"/>
          <p:cNvGraphicFramePr>
            <a:graphicFrameLocks noGrp="1"/>
          </p:cNvGraphicFramePr>
          <p:nvPr/>
        </p:nvGraphicFramePr>
        <p:xfrm>
          <a:off x="5282563" y="6223708"/>
          <a:ext cx="8707754" cy="194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5-MINUTE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0D6D8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1-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1-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B452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51.40%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0D6D8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53.67%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62.67%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B452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Directional</a:t>
                      </a:r>
                      <a:r>
                        <a:rPr sz="900" spc="3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Accuracy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0D6D8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Directional</a:t>
                      </a:r>
                      <a:r>
                        <a:rPr sz="900" spc="3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Accuracy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Directional</a:t>
                      </a:r>
                      <a:r>
                        <a:rPr sz="900" spc="3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Accuracy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B452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5,836.58</a:t>
                      </a:r>
                      <a:r>
                        <a:rPr sz="105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USDT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0D6D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6,069.51</a:t>
                      </a:r>
                      <a:r>
                        <a:rPr sz="105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USDT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28,035.71</a:t>
                      </a:r>
                      <a:r>
                        <a:rPr sz="105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USDT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B452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spc="-1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Frictionless</a:t>
                      </a:r>
                      <a:r>
                        <a:rPr sz="800" spc="4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PnL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0D6D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spc="-1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Frictionless</a:t>
                      </a:r>
                      <a:r>
                        <a:rPr sz="800" spc="4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PnL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spc="-1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Frictionless</a:t>
                      </a:r>
                      <a:r>
                        <a:rPr sz="800" spc="40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DDEDED"/>
                          </a:solidFill>
                          <a:latin typeface="Arial MT"/>
                          <a:cs typeface="Arial MT"/>
                        </a:rPr>
                        <a:t>PnL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B452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Margin: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+1.24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pp</a:t>
                      </a:r>
                      <a:r>
                        <a:rPr sz="800" spc="39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sz="800" spc="40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Return:</a:t>
                      </a:r>
                      <a:r>
                        <a:rPr sz="800" spc="-3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1.72%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0D6D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Margin: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+2.94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pp</a:t>
                      </a:r>
                      <a:r>
                        <a:rPr sz="800" spc="39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sz="800" spc="40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Return:</a:t>
                      </a:r>
                      <a:r>
                        <a:rPr sz="800" spc="-3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4.31%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Margin: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+9.33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pp</a:t>
                      </a:r>
                      <a:r>
                        <a:rPr sz="800" spc="39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sz="800" spc="40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Return:</a:t>
                      </a:r>
                      <a:r>
                        <a:rPr sz="800" spc="-3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43.30%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B452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i="1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Native</a:t>
                      </a:r>
                      <a:r>
                        <a:rPr sz="800" i="1" spc="-10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 Direction-</a:t>
                      </a:r>
                      <a:r>
                        <a:rPr sz="800" i="1" spc="-20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Head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0D6D8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i="1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50% </a:t>
                      </a:r>
                      <a:r>
                        <a:rPr sz="800" i="1" spc="-10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Pruned</a:t>
                      </a:r>
                      <a:r>
                        <a:rPr sz="800" i="1" spc="-5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Direction-</a:t>
                      </a:r>
                      <a:r>
                        <a:rPr sz="800" i="1" spc="-20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Head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7B39EC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i="1" spc="-10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Consecutive-Path</a:t>
                      </a:r>
                      <a:r>
                        <a:rPr sz="800" i="1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DDEDFF"/>
                          </a:solidFill>
                          <a:latin typeface="Arial"/>
                          <a:cs typeface="Arial"/>
                        </a:rPr>
                        <a:t>Adapter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B452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5" name="object 555"/>
          <p:cNvSpPr/>
          <p:nvPr/>
        </p:nvSpPr>
        <p:spPr>
          <a:xfrm>
            <a:off x="5404001" y="7134495"/>
            <a:ext cx="2619375" cy="0"/>
          </a:xfrm>
          <a:custGeom>
            <a:avLst/>
            <a:gdLst/>
            <a:ahLst/>
            <a:cxnLst/>
            <a:rect l="l" t="t" r="r" b="b"/>
            <a:pathLst>
              <a:path w="2619375">
                <a:moveTo>
                  <a:pt x="0" y="0"/>
                </a:moveTo>
                <a:lnTo>
                  <a:pt x="2619018" y="0"/>
                </a:lnTo>
              </a:path>
            </a:pathLst>
          </a:custGeom>
          <a:ln w="421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8326615" y="7134495"/>
            <a:ext cx="2619375" cy="0"/>
          </a:xfrm>
          <a:custGeom>
            <a:avLst/>
            <a:gdLst/>
            <a:ahLst/>
            <a:cxnLst/>
            <a:rect l="l" t="t" r="r" b="b"/>
            <a:pathLst>
              <a:path w="2619375">
                <a:moveTo>
                  <a:pt x="0" y="0"/>
                </a:moveTo>
                <a:lnTo>
                  <a:pt x="2619018" y="0"/>
                </a:lnTo>
              </a:path>
            </a:pathLst>
          </a:custGeom>
          <a:ln w="421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11249229" y="7134495"/>
            <a:ext cx="2619375" cy="0"/>
          </a:xfrm>
          <a:custGeom>
            <a:avLst/>
            <a:gdLst/>
            <a:ahLst/>
            <a:cxnLst/>
            <a:rect l="l" t="t" r="r" b="b"/>
            <a:pathLst>
              <a:path w="2619375">
                <a:moveTo>
                  <a:pt x="0" y="0"/>
                </a:moveTo>
                <a:lnTo>
                  <a:pt x="2619018" y="0"/>
                </a:lnTo>
              </a:path>
            </a:pathLst>
          </a:custGeom>
          <a:ln w="421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8" name="object 55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8135" y="8451864"/>
            <a:ext cx="4204736" cy="3235208"/>
          </a:xfrm>
          <a:prstGeom prst="rect">
            <a:avLst/>
          </a:prstGeom>
        </p:spPr>
      </p:pic>
      <p:sp>
        <p:nvSpPr>
          <p:cNvPr id="559" name="object 559"/>
          <p:cNvSpPr txBox="1"/>
          <p:nvPr/>
        </p:nvSpPr>
        <p:spPr>
          <a:xfrm>
            <a:off x="5270285" y="11828117"/>
            <a:ext cx="8732520" cy="5429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36830" algn="ctr">
              <a:lnSpc>
                <a:spcPct val="100000"/>
              </a:lnSpc>
              <a:spcBef>
                <a:spcPts val="130"/>
              </a:spcBef>
              <a:tabLst>
                <a:tab pos="4458970" algn="l"/>
              </a:tabLst>
            </a:pP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Figure</a:t>
            </a:r>
            <a:r>
              <a:rPr sz="70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1:</a:t>
            </a:r>
            <a:r>
              <a:rPr sz="70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Directional</a:t>
            </a:r>
            <a:r>
              <a:rPr sz="700" i="1" spc="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accuracy</a:t>
            </a:r>
            <a:r>
              <a:rPr sz="70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of</a:t>
            </a:r>
            <a:r>
              <a:rPr sz="70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each</a:t>
            </a:r>
            <a:r>
              <a:rPr sz="70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horizon</a:t>
            </a:r>
            <a:r>
              <a:rPr sz="700" i="1" spc="10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winner</a:t>
            </a:r>
            <a:r>
              <a:rPr sz="700" i="1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vs</a:t>
            </a:r>
            <a:r>
              <a:rPr sz="70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majority</a:t>
            </a:r>
            <a:r>
              <a:rPr sz="70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545454"/>
                </a:solidFill>
                <a:latin typeface="Arial"/>
                <a:cs typeface="Arial"/>
              </a:rPr>
              <a:t>baseline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	Figure</a:t>
            </a:r>
            <a:r>
              <a:rPr sz="700" i="1" spc="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2:</a:t>
            </a:r>
            <a:r>
              <a:rPr sz="70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Frictionless</a:t>
            </a:r>
            <a:r>
              <a:rPr sz="700" i="1" spc="7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1</a:t>
            </a:r>
            <a:r>
              <a:rPr sz="700" i="1" spc="8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BTC</a:t>
            </a:r>
            <a:r>
              <a:rPr sz="700" i="1" spc="7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directional-trading</a:t>
            </a:r>
            <a:r>
              <a:rPr sz="700" i="1" spc="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PnL</a:t>
            </a:r>
            <a:r>
              <a:rPr sz="700" i="1" spc="7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per</a:t>
            </a:r>
            <a:r>
              <a:rPr sz="70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545454"/>
                </a:solidFill>
                <a:latin typeface="Arial"/>
                <a:cs typeface="Arial"/>
              </a:rPr>
              <a:t>horizon</a:t>
            </a:r>
            <a:r>
              <a:rPr sz="700" i="1" spc="1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545454"/>
                </a:solidFill>
                <a:latin typeface="Arial"/>
                <a:cs typeface="Arial"/>
              </a:rPr>
              <a:t>(USDT)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8706485" algn="l"/>
              </a:tabLst>
            </a:pP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KEY</a:t>
            </a:r>
            <a:r>
              <a:rPr sz="1600" b="1" u="sng" spc="-8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FINDING:</a:t>
            </a:r>
            <a:r>
              <a:rPr sz="1600" b="1" u="sng" spc="-5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1-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HOUR</a:t>
            </a:r>
            <a:r>
              <a:rPr sz="1600" b="1" u="sng" spc="-5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PRUNING</a:t>
            </a:r>
            <a:r>
              <a:rPr sz="1600" b="1" u="sng" spc="-4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SWEEP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60" name="object 56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42415" y="8455166"/>
            <a:ext cx="4207774" cy="3231907"/>
          </a:xfrm>
          <a:prstGeom prst="rect">
            <a:avLst/>
          </a:prstGeom>
        </p:spPr>
      </p:pic>
      <p:graphicFrame>
        <p:nvGraphicFramePr>
          <p:cNvPr id="561" name="object 561"/>
          <p:cNvGraphicFramePr>
            <a:graphicFrameLocks noGrp="1"/>
          </p:cNvGraphicFramePr>
          <p:nvPr/>
        </p:nvGraphicFramePr>
        <p:xfrm>
          <a:off x="5279190" y="12444045"/>
          <a:ext cx="8709024" cy="1212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5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5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Margin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vs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PnL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Comp.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Return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Dense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52.80%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+2.07</a:t>
                      </a:r>
                      <a:r>
                        <a:rPr sz="900" spc="3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pp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-2,726.83</a:t>
                      </a:r>
                      <a:r>
                        <a:rPr sz="900" spc="7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USDT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2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7.23%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Pruned</a:t>
                      </a:r>
                      <a:r>
                        <a:rPr sz="900" spc="4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25%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53.14%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+2.40</a:t>
                      </a:r>
                      <a:r>
                        <a:rPr sz="900" spc="3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pp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-516.73</a:t>
                      </a:r>
                      <a:r>
                        <a:rPr sz="900" spc="4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USDT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2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4.02%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Pruned</a:t>
                      </a:r>
                      <a:r>
                        <a:rPr sz="900" b="1" spc="4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50%</a:t>
                      </a:r>
                      <a:r>
                        <a:rPr sz="900" b="1" spc="6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solidFill>
                            <a:srgbClr val="111111"/>
                          </a:solidFill>
                          <a:latin typeface="Segoe UI Symbol"/>
                          <a:cs typeface="Segoe UI Symbol"/>
                        </a:rPr>
                        <a:t>★</a:t>
                      </a:r>
                      <a:endParaRPr sz="900">
                        <a:latin typeface="Segoe UI Symbol"/>
                        <a:cs typeface="Segoe UI Symbo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DF6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53.67%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DF6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+2.94</a:t>
                      </a:r>
                      <a:r>
                        <a:rPr sz="900" b="1" spc="3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DF6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6,069.51</a:t>
                      </a:r>
                      <a:r>
                        <a:rPr sz="900" b="1" spc="5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USDT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DF6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4.31%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D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Pruned</a:t>
                      </a:r>
                      <a:r>
                        <a:rPr sz="900" spc="4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75%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51.40%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+0.67</a:t>
                      </a:r>
                      <a:r>
                        <a:rPr sz="900" spc="3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pp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-2,936.27</a:t>
                      </a:r>
                      <a:r>
                        <a:rPr sz="900" spc="7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USDT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2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5.45%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2" name="object 562"/>
          <p:cNvSpPr txBox="1"/>
          <p:nvPr/>
        </p:nvSpPr>
        <p:spPr>
          <a:xfrm>
            <a:off x="5270285" y="13772142"/>
            <a:ext cx="873252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719185" algn="l"/>
              </a:tabLst>
            </a:pPr>
            <a:r>
              <a:rPr sz="16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CONCLUSION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3" name="object 563"/>
          <p:cNvSpPr txBox="1"/>
          <p:nvPr/>
        </p:nvSpPr>
        <p:spPr>
          <a:xfrm>
            <a:off x="5282563" y="14117194"/>
            <a:ext cx="8707120" cy="1700530"/>
          </a:xfrm>
          <a:prstGeom prst="rect">
            <a:avLst/>
          </a:prstGeom>
          <a:solidFill>
            <a:srgbClr val="F4F5F7"/>
          </a:solidFill>
          <a:ln w="8433">
            <a:solidFill>
              <a:srgbClr val="D0D4D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245"/>
              </a:spcBef>
            </a:pP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winning</a:t>
            </a:r>
            <a:r>
              <a:rPr sz="105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adaptation strategy changes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with the forecasting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horizon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— a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single</a:t>
            </a:r>
            <a:r>
              <a:rPr sz="105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universal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cannot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serve all</a:t>
            </a:r>
            <a:r>
              <a:rPr sz="105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regimes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optimally.</a:t>
            </a:r>
            <a:r>
              <a:rPr sz="105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11111"/>
                </a:solidFill>
                <a:latin typeface="Arial MT"/>
                <a:cs typeface="Arial MT"/>
              </a:rPr>
              <a:t>This</a:t>
            </a:r>
            <a:endParaRPr sz="1050">
              <a:latin typeface="Arial MT"/>
              <a:cs typeface="Arial MT"/>
            </a:endParaRPr>
          </a:p>
          <a:p>
            <a:pPr marL="182245">
              <a:lnSpc>
                <a:spcPct val="100000"/>
              </a:lnSpc>
              <a:spcBef>
                <a:spcPts val="334"/>
              </a:spcBef>
            </a:pP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project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delivers an</a:t>
            </a:r>
            <a:r>
              <a:rPr sz="1050" spc="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b="1" spc="-10" dirty="0">
                <a:solidFill>
                  <a:srgbClr val="1C2B4A"/>
                </a:solidFill>
                <a:latin typeface="Arial"/>
                <a:cs typeface="Arial"/>
              </a:rPr>
              <a:t>interval-</a:t>
            </a:r>
            <a:r>
              <a:rPr sz="1050" b="1" dirty="0">
                <a:solidFill>
                  <a:srgbClr val="1C2B4A"/>
                </a:solidFill>
                <a:latin typeface="Arial"/>
                <a:cs typeface="Arial"/>
              </a:rPr>
              <a:t>aware</a:t>
            </a:r>
            <a:r>
              <a:rPr sz="1050" b="1" spc="25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C2B4A"/>
                </a:solidFill>
                <a:latin typeface="Arial"/>
                <a:cs typeface="Arial"/>
              </a:rPr>
              <a:t>deployment</a:t>
            </a:r>
            <a:r>
              <a:rPr sz="1050" b="1" spc="55" dirty="0">
                <a:solidFill>
                  <a:srgbClr val="1C2B4A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C2B4A"/>
                </a:solidFill>
                <a:latin typeface="Arial"/>
                <a:cs typeface="Arial"/>
              </a:rPr>
              <a:t>framework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three</a:t>
            </a:r>
            <a:r>
              <a:rPr sz="1050" spc="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key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conclusions:</a:t>
            </a:r>
            <a:endParaRPr sz="1050">
              <a:latin typeface="Arial MT"/>
              <a:cs typeface="Arial MT"/>
            </a:endParaRPr>
          </a:p>
          <a:p>
            <a:pPr marL="410209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410209" algn="l"/>
              </a:tabLst>
            </a:pP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5-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minute:</a:t>
            </a:r>
            <a:r>
              <a:rPr sz="105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Direct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same-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interval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direction-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head supervision</a:t>
            </a:r>
            <a:r>
              <a:rPr sz="105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best.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Gains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above chance are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modest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(+1.24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pp)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but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positive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endParaRPr sz="1050">
              <a:latin typeface="Arial MT"/>
              <a:cs typeface="Arial MT"/>
            </a:endParaRPr>
          </a:p>
          <a:p>
            <a:pPr marL="410209">
              <a:lnSpc>
                <a:spcPct val="100000"/>
              </a:lnSpc>
              <a:spcBef>
                <a:spcPts val="335"/>
              </a:spcBef>
            </a:pP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consistent.</a:t>
            </a:r>
            <a:endParaRPr sz="1050">
              <a:latin typeface="Arial MT"/>
              <a:cs typeface="Arial MT"/>
            </a:endParaRPr>
          </a:p>
          <a:p>
            <a:pPr marL="410209" marR="465455" indent="-227965">
              <a:lnSpc>
                <a:spcPct val="126499"/>
              </a:lnSpc>
              <a:spcBef>
                <a:spcPts val="200"/>
              </a:spcBef>
              <a:buChar char="•"/>
              <a:tabLst>
                <a:tab pos="410209" algn="l"/>
              </a:tabLst>
            </a:pP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1-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hour: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Moderate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pruning (50% sparsity)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acts as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regularization,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producing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the only</a:t>
            </a:r>
            <a:r>
              <a:rPr sz="105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positive</a:t>
            </a:r>
            <a:r>
              <a:rPr sz="105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hourly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PnL</a:t>
            </a:r>
            <a:r>
              <a:rPr sz="105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the sweep and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sz="1050" spc="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+2.94 </a:t>
            </a:r>
            <a:r>
              <a:rPr sz="1050" spc="-25" dirty="0">
                <a:solidFill>
                  <a:srgbClr val="111111"/>
                </a:solidFill>
                <a:latin typeface="Arial MT"/>
                <a:cs typeface="Arial MT"/>
              </a:rPr>
              <a:t>pp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margin.</a:t>
            </a:r>
            <a:endParaRPr sz="1050">
              <a:latin typeface="Arial MT"/>
              <a:cs typeface="Arial MT"/>
            </a:endParaRPr>
          </a:p>
          <a:p>
            <a:pPr marL="410209" marR="197485" indent="-227965">
              <a:lnSpc>
                <a:spcPct val="126499"/>
              </a:lnSpc>
              <a:spcBef>
                <a:spcPts val="200"/>
              </a:spcBef>
              <a:buChar char="•"/>
              <a:tabLst>
                <a:tab pos="410209" algn="l"/>
              </a:tabLst>
            </a:pP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1-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day:</a:t>
            </a:r>
            <a:r>
              <a:rPr sz="105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Path-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consistent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objectives</a:t>
            </a:r>
            <a:r>
              <a:rPr sz="105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partial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backbone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unfreezing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(last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6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layers)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deliver</a:t>
            </a:r>
            <a:r>
              <a:rPr sz="105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62.67%</a:t>
            </a:r>
            <a:r>
              <a:rPr sz="10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accuracy and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28,035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USDT</a:t>
            </a:r>
            <a:r>
              <a:rPr sz="105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PnL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—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11111"/>
                </a:solidFill>
                <a:latin typeface="Arial MT"/>
                <a:cs typeface="Arial MT"/>
              </a:rPr>
              <a:t>the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largest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economic effect</a:t>
            </a:r>
            <a:r>
              <a:rPr sz="1050" spc="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sz="10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11111"/>
                </a:solidFill>
                <a:latin typeface="Arial MT"/>
                <a:cs typeface="Arial MT"/>
              </a:rPr>
              <a:t>the </a:t>
            </a:r>
            <a:r>
              <a:rPr sz="1050" spc="-10" dirty="0">
                <a:solidFill>
                  <a:srgbClr val="111111"/>
                </a:solidFill>
                <a:latin typeface="Arial MT"/>
                <a:cs typeface="Arial MT"/>
              </a:rPr>
              <a:t>project.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64" name="object 564"/>
          <p:cNvSpPr txBox="1"/>
          <p:nvPr/>
        </p:nvSpPr>
        <p:spPr>
          <a:xfrm>
            <a:off x="5270285" y="15958283"/>
            <a:ext cx="873252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719185" algn="l"/>
              </a:tabLst>
            </a:pP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WEB</a:t>
            </a:r>
            <a:r>
              <a:rPr sz="1600" b="1" u="sng" spc="-10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APPLICATION</a:t>
            </a:r>
            <a:r>
              <a:rPr sz="1600" b="1" u="sng" spc="-3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-2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DEMO</a:t>
            </a:r>
            <a:r>
              <a:rPr sz="16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65" name="object 56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82563" y="16303082"/>
            <a:ext cx="4266446" cy="2064450"/>
          </a:xfrm>
          <a:prstGeom prst="rect">
            <a:avLst/>
          </a:prstGeom>
        </p:spPr>
      </p:pic>
      <p:pic>
        <p:nvPicPr>
          <p:cNvPr id="566" name="object 56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23155" y="16303082"/>
            <a:ext cx="4266529" cy="2064450"/>
          </a:xfrm>
          <a:prstGeom prst="rect">
            <a:avLst/>
          </a:prstGeom>
        </p:spPr>
      </p:pic>
      <p:sp>
        <p:nvSpPr>
          <p:cNvPr id="567" name="object 567"/>
          <p:cNvSpPr txBox="1"/>
          <p:nvPr/>
        </p:nvSpPr>
        <p:spPr>
          <a:xfrm>
            <a:off x="7899001" y="18416395"/>
            <a:ext cx="3474085" cy="232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700" i="1" dirty="0" err="1">
                <a:solidFill>
                  <a:srgbClr val="545454"/>
                </a:solidFill>
                <a:latin typeface="Arial"/>
                <a:cs typeface="Arial"/>
              </a:rPr>
              <a:t>FastAPI</a:t>
            </a:r>
            <a:r>
              <a:rPr lang="en-US" sz="700" i="1" spc="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+</a:t>
            </a:r>
            <a:r>
              <a:rPr lang="en-US" sz="700" i="1" spc="8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Lightweight charts</a:t>
            </a:r>
            <a:r>
              <a:rPr lang="en-US" sz="700" i="1" spc="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live</a:t>
            </a:r>
            <a:r>
              <a:rPr lang="en-US" sz="700" i="1" spc="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BTCUSDT</a:t>
            </a:r>
            <a:r>
              <a:rPr lang="en-US" sz="700" i="1" spc="1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forecasting</a:t>
            </a:r>
            <a:r>
              <a:rPr lang="en-US" sz="700" i="1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dashboard</a:t>
            </a:r>
            <a:r>
              <a:rPr lang="en-US" sz="700" i="1" spc="7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with</a:t>
            </a:r>
            <a:r>
              <a:rPr lang="en-US" sz="700" i="1" spc="8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Binance</a:t>
            </a:r>
            <a:r>
              <a:rPr lang="en-US" sz="700" i="1" spc="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dirty="0">
                <a:solidFill>
                  <a:srgbClr val="545454"/>
                </a:solidFill>
                <a:latin typeface="Arial"/>
                <a:cs typeface="Arial"/>
              </a:rPr>
              <a:t>trading</a:t>
            </a:r>
            <a:r>
              <a:rPr lang="en-US" sz="700" i="1" spc="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z="700" i="1" spc="-10" dirty="0">
                <a:solidFill>
                  <a:srgbClr val="545454"/>
                </a:solidFill>
                <a:latin typeface="Arial"/>
                <a:cs typeface="Arial"/>
              </a:rPr>
              <a:t>integration</a:t>
            </a:r>
            <a:endParaRPr lang="en-US" sz="700" dirty="0">
              <a:latin typeface="Arial"/>
              <a:cs typeface="Arial"/>
            </a:endParaRPr>
          </a:p>
        </p:txBody>
      </p:sp>
      <p:sp>
        <p:nvSpPr>
          <p:cNvPr id="568" name="object 568"/>
          <p:cNvSpPr txBox="1"/>
          <p:nvPr/>
        </p:nvSpPr>
        <p:spPr>
          <a:xfrm>
            <a:off x="230176" y="19816139"/>
            <a:ext cx="518477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Spring</a:t>
            </a:r>
            <a:r>
              <a:rPr sz="7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r>
              <a:rPr sz="700" spc="3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700" spc="3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ITBP481:</a:t>
            </a:r>
            <a:r>
              <a:rPr sz="7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Senior</a:t>
            </a:r>
            <a:r>
              <a:rPr sz="7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Graduation</a:t>
            </a:r>
            <a:r>
              <a:rPr sz="7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Project</a:t>
            </a:r>
            <a:r>
              <a:rPr sz="7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II</a:t>
            </a:r>
            <a:r>
              <a:rPr sz="700" spc="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700" spc="3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College</a:t>
            </a:r>
            <a:r>
              <a:rPr sz="7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7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sz="7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700" spc="3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700" spc="3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United</a:t>
            </a:r>
            <a:r>
              <a:rPr sz="7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Arab</a:t>
            </a:r>
            <a:r>
              <a:rPr sz="7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FFFFFF"/>
                </a:solidFill>
                <a:latin typeface="Arial MT"/>
                <a:cs typeface="Arial MT"/>
              </a:rPr>
              <a:t>Emirates</a:t>
            </a:r>
            <a:r>
              <a:rPr sz="7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69" name="object 569"/>
          <p:cNvSpPr txBox="1"/>
          <p:nvPr/>
        </p:nvSpPr>
        <p:spPr>
          <a:xfrm>
            <a:off x="13504388" y="19816139"/>
            <a:ext cx="46799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dirty="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sz="7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840</Words>
  <Application>Microsoft Office PowerPoint</Application>
  <PresentationFormat>Custom</PresentationFormat>
  <Paragraphs>116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MT</vt:lpstr>
      <vt:lpstr>Calibri</vt:lpstr>
      <vt:lpstr>Cambria Math</vt:lpstr>
      <vt:lpstr>Segoe UI Symbol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abdulrahman osman</cp:lastModifiedBy>
  <cp:revision>3</cp:revision>
  <dcterms:created xsi:type="dcterms:W3CDTF">2026-04-26T14:30:15Z</dcterms:created>
  <dcterms:modified xsi:type="dcterms:W3CDTF">2026-09-08T21:23:46Z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2026-04-26T00:00:00Z</vt:filetime>
  </property>
  <property fmtid="{D5CDD505-2E9C-101B-9397-08002B2CF9AE}" pid="5" name="Producer">
    <vt:lpwstr>Microsoft® PowerPoint® for Microsoft 365</vt:lpwstr>
  </property>
</Properties>
</file>